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使った設定値を左右の表にまとめます。左が報酬の重み、右がシミュレーションと行動・観測です。報酬は中央維持を基礎に、速度と前進投影で『前へ速く』を作り、後退・停止・壁擦りに離散ペナルティ、チェックポイントとラップは生単位で加算します。全項を合成したあと lmap で [0,1] に正規化し、範囲 [−3,3] は通常ステップの上下限 ±2.8 を覆うように選んでいます。右側、物理は 15 Hz・意思決定は 5 Hz で 1 アクションを 3 回保持。加速度は ±5 m/s²、舵角は ±π/6。壁は停止モードで摩擦 0.6、7 秒接触で終端。これらの定数は C# 側にも複製されるため、変更時は 4 点セットの同期が必要です。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正直な残課題です。今回はエージェントをゲーム内で動かすところまでは到達できませんでした。理由は ONNX の変換とレイヤ対応です。まず前提知識として、ONNX モデルは計算グラフで、ノードと呼ばれる演算子 (レイヤ) の有向グラフです。各ノードは op_type (Gemm や Conv など)、入力・出力、そして属性 (attributes) を持ちます。属性はその演算の静的パラメータで、例えば Gemm の transB は重み行列を転置するフラグ、Conv の strides はストライド幅です。推論ランタイム、ここでは RE Engine が、使われている全ての op_type と属性を正しく実装していないと、グラフは失敗するか誤った出力を出します。今回対応したのは 3 つです。Flatten は多次元を平坦化するレイヤですが、RE Engine は入力を 1 次元として扱うため実質no-op で問題なし。Gemm の transB 属性は変換スクリプトで転置を解決済み。ConstantOfShape は指定形状を定数で埋めるレイヤで、変換側では 0 次元出力を許容して対応しましたが、RE Engine 側の対応は未実装です。必要な全レイヤの対応を終えられず、結果としてモデルはゲーム内で正しく振る舞いませんでした。ここが次にやるべき最優先の作業です。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最後に、今回の最大の学びです。良いゲーム AI をシミュレーションで作れるかは、そのゲームが何を必要とするかに全面的に依存します。だからこそ、AI を設計する前に『目的』を定めることが不可欠です。目的はゲームごとに大きく異なります。今回はレースゲームを想定し、壁・摩擦・特定の車サイズ・トラックサイズといった要素を模擬しました。しかし別のゲームなら、模擬すべきものも省けるものも変わります。目的を先に決めるからこそ、何を環境に作り込み、何を捨てるかが決まるのです。技術面の振り返りとしては、ステア専用のレーン追従環境に行動・壁・報酬・観測・トラックの5 段階の進化を施し、抜け道を報酬の経済設計で割に合わなくした結果、6 万ステップで周回を学習する環境になりました。汎化は自己位置を見せない観測設計の帰結です。残る課題は ONNX レイヤ対応を完了しゲーム内で実走させること。ご清聴ありがとうございました。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設定リファレンス — 報酬とシミュレーションの実値</a:t>
            </a:r>
          </a:p>
        </p:txBody>
      </p:sp>
      <p:graphicFrame>
        <p:nvGraphicFramePr>
          <p:cNvPr id="3" name="Table 2"/>
          <p:cNvGraphicFramePr>
            <a:graphicFrameLocks noGrp="1"/>
          </p:cNvGraphicFramePr>
          <p:nvPr/>
        </p:nvGraphicFramePr>
        <p:xfrm>
          <a:off x="365760" y="1280160"/>
          <a:ext cx="5623560" cy="5029200"/>
        </p:xfrm>
        <a:graphic>
          <a:graphicData uri="http://schemas.openxmlformats.org/drawingml/2006/table">
            <a:tbl>
              <a:tblPr firstRow="1" bandRow="1">
                <a:tableStyleId>{5C22544A-7EE6-4342-B048-85BDC9FD1C3A}</a:tableStyleId>
              </a:tblPr>
              <a:tblGrid>
                <a:gridCol w="2834640"/>
                <a:gridCol w="2788920"/>
              </a:tblGrid>
              <a:tr h="502920">
                <a:tc>
                  <a:txBody>
                    <a:bodyPr wrap="square"/>
                    <a:lstStyle/>
                    <a:p>
                      <a:r>
                        <a:rPr sz="1300" b="1">
                          <a:solidFill>
                            <a:srgbClr val="FFFFFF"/>
                          </a:solidFill>
                          <a:latin typeface="Meiryo"/>
                        </a:rPr>
                        <a:t>報酬の重み</a:t>
                      </a:r>
                    </a:p>
                  </a:txBody>
                  <a:tcPr marL="64008" marR="64008" marT="27432" marB="27432">
                    <a:solidFill>
                      <a:srgbClr val="1B5EA8"/>
                    </a:solidFill>
                  </a:tcPr>
                </a:tc>
                <a:tc>
                  <a:txBody>
                    <a:bodyPr wrap="square"/>
                    <a:lstStyle/>
                    <a:p>
                      <a:r>
                        <a:rPr sz="1300" b="1">
                          <a:solidFill>
                            <a:srgbClr val="FFFFFF"/>
                          </a:solidFill>
                          <a:latin typeface="Meiryo"/>
                        </a:rPr>
                        <a:t>値 / 範囲寄与</a:t>
                      </a:r>
                    </a:p>
                  </a:txBody>
                  <a:tcPr marL="64008" marR="64008" marT="27432" marB="27432">
                    <a:solidFill>
                      <a:srgbClr val="1B5EA8"/>
                    </a:solidFill>
                  </a:tcPr>
                </a:tc>
              </a:tr>
              <a:tr h="502920">
                <a:tc>
                  <a:txBody>
                    <a:bodyPr wrap="square"/>
                    <a:lstStyle/>
                    <a:p>
                      <a:r>
                        <a:rPr sz="1200" b="1">
                          <a:solidFill>
                            <a:srgbClr val="1B5EA8"/>
                          </a:solidFill>
                          <a:latin typeface="Meiryo"/>
                        </a:rPr>
                        <a:t>中央維持 1/(1+6·lat²)</a:t>
                      </a:r>
                    </a:p>
                  </a:txBody>
                  <a:tcPr marL="64008" marR="64008" marT="27432" marB="27432">
                    <a:solidFill>
                      <a:srgbClr val="F2F5FA"/>
                    </a:solidFill>
                  </a:tcPr>
                </a:tc>
                <a:tc>
                  <a:txBody>
                    <a:bodyPr wrap="square"/>
                    <a:lstStyle/>
                    <a:p>
                      <a:r>
                        <a:rPr sz="1200" b="0">
                          <a:solidFill>
                            <a:srgbClr val="222222"/>
                          </a:solidFill>
                          <a:latin typeface="Meiryo"/>
                        </a:rPr>
                        <a:t>重み 1.0 → [0, +1]</a:t>
                      </a:r>
                    </a:p>
                  </a:txBody>
                  <a:tcPr marL="64008" marR="64008" marT="27432" marB="27432">
                    <a:solidFill>
                      <a:srgbClr val="F2F5FA"/>
                    </a:solidFill>
                  </a:tcPr>
                </a:tc>
              </a:tr>
              <a:tr h="502920">
                <a:tc>
                  <a:txBody>
                    <a:bodyPr wrap="square"/>
                    <a:lstStyle/>
                    <a:p>
                      <a:r>
                        <a:rPr sz="1200" b="1">
                          <a:solidFill>
                            <a:srgbClr val="1B5EA8"/>
                          </a:solidFill>
                          <a:latin typeface="Meiryo"/>
                        </a:rPr>
                        <a:t>速度 (÷16 m/s)</a:t>
                      </a:r>
                    </a:p>
                  </a:txBody>
                  <a:tcPr marL="64008" marR="64008" marT="27432" marB="27432">
                    <a:solidFill>
                      <a:srgbClr val="FFFFFF"/>
                    </a:solidFill>
                  </a:tcPr>
                </a:tc>
                <a:tc>
                  <a:txBody>
                    <a:bodyPr wrap="square"/>
                    <a:lstStyle/>
                    <a:p>
                      <a:r>
                        <a:rPr sz="1200" b="0">
                          <a:solidFill>
                            <a:srgbClr val="222222"/>
                          </a:solidFill>
                          <a:latin typeface="Meiryo"/>
                        </a:rPr>
                        <a:t>1.0 → [−1, +1]</a:t>
                      </a:r>
                    </a:p>
                  </a:txBody>
                  <a:tcPr marL="64008" marR="64008" marT="27432" marB="27432">
                    <a:solidFill>
                      <a:srgbClr val="FFFFFF"/>
                    </a:solidFill>
                  </a:tcPr>
                </a:tc>
              </a:tr>
              <a:tr h="502920">
                <a:tc>
                  <a:txBody>
                    <a:bodyPr wrap="square"/>
                    <a:lstStyle/>
                    <a:p>
                      <a:r>
                        <a:rPr sz="1200" b="1">
                          <a:solidFill>
                            <a:srgbClr val="1B5EA8"/>
                          </a:solidFill>
                          <a:latin typeface="Meiryo"/>
                        </a:rPr>
                        <a:t>前進速度投影</a:t>
                      </a:r>
                    </a:p>
                  </a:txBody>
                  <a:tcPr marL="64008" marR="64008" marT="27432" marB="27432">
                    <a:solidFill>
                      <a:srgbClr val="F2F5FA"/>
                    </a:solidFill>
                  </a:tcPr>
                </a:tc>
                <a:tc>
                  <a:txBody>
                    <a:bodyPr wrap="square"/>
                    <a:lstStyle/>
                    <a:p>
                      <a:r>
                        <a:rPr sz="1200" b="0">
                          <a:solidFill>
                            <a:srgbClr val="222222"/>
                          </a:solidFill>
                          <a:latin typeface="Meiryo"/>
                        </a:rPr>
                        <a:t>0.8 → [−0.4, +0.8]</a:t>
                      </a:r>
                    </a:p>
                  </a:txBody>
                  <a:tcPr marL="64008" marR="64008" marT="27432" marB="27432">
                    <a:solidFill>
                      <a:srgbClr val="F2F5FA"/>
                    </a:solidFill>
                  </a:tcPr>
                </a:tc>
              </a:tr>
              <a:tr h="502920">
                <a:tc>
                  <a:txBody>
                    <a:bodyPr wrap="square"/>
                    <a:lstStyle/>
                    <a:p>
                      <a:r>
                        <a:rPr sz="1200" b="1">
                          <a:solidFill>
                            <a:srgbClr val="1B5EA8"/>
                          </a:solidFill>
                          <a:latin typeface="Meiryo"/>
                        </a:rPr>
                        <a:t>操舵 / ジャーク罰</a:t>
                      </a:r>
                    </a:p>
                  </a:txBody>
                  <a:tcPr marL="64008" marR="64008" marT="27432" marB="27432">
                    <a:solidFill>
                      <a:srgbClr val="FFFFFF"/>
                    </a:solidFill>
                  </a:tcPr>
                </a:tc>
                <a:tc>
                  <a:txBody>
                    <a:bodyPr wrap="square"/>
                    <a:lstStyle/>
                    <a:p>
                      <a:r>
                        <a:rPr sz="1200" b="0">
                          <a:solidFill>
                            <a:srgbClr val="222222"/>
                          </a:solidFill>
                          <a:latin typeface="Meiryo"/>
                        </a:rPr>
                        <a:t>0.10 / 0.20</a:t>
                      </a:r>
                    </a:p>
                  </a:txBody>
                  <a:tcPr marL="64008" marR="64008" marT="27432" marB="27432">
                    <a:solidFill>
                      <a:srgbClr val="FFFFFF"/>
                    </a:solidFill>
                  </a:tcPr>
                </a:tc>
              </a:tr>
              <a:tr h="502920">
                <a:tc>
                  <a:txBody>
                    <a:bodyPr wrap="square"/>
                    <a:lstStyle/>
                    <a:p>
                      <a:r>
                        <a:rPr sz="1200" b="1">
                          <a:solidFill>
                            <a:srgbClr val="1B5EA8"/>
                          </a:solidFill>
                          <a:latin typeface="Meiryo"/>
                        </a:rPr>
                        <a:t>後退 / 停止罰</a:t>
                      </a:r>
                    </a:p>
                  </a:txBody>
                  <a:tcPr marL="64008" marR="64008" marT="27432" marB="27432">
                    <a:solidFill>
                      <a:srgbClr val="F2F5FA"/>
                    </a:solidFill>
                  </a:tcPr>
                </a:tc>
                <a:tc>
                  <a:txBody>
                    <a:bodyPr wrap="square"/>
                    <a:lstStyle/>
                    <a:p>
                      <a:r>
                        <a:rPr sz="1200" b="0">
                          <a:solidFill>
                            <a:srgbClr val="222222"/>
                          </a:solidFill>
                          <a:latin typeface="Meiryo"/>
                        </a:rPr>
                        <a:t>0.80 / 0.80 (15 step 免除)</a:t>
                      </a:r>
                    </a:p>
                  </a:txBody>
                  <a:tcPr marL="64008" marR="64008" marT="27432" marB="27432">
                    <a:solidFill>
                      <a:srgbClr val="F2F5FA"/>
                    </a:solidFill>
                  </a:tcPr>
                </a:tc>
              </a:tr>
              <a:tr h="502920">
                <a:tc>
                  <a:txBody>
                    <a:bodyPr wrap="square"/>
                    <a:lstStyle/>
                    <a:p>
                      <a:r>
                        <a:rPr sz="1200" b="1">
                          <a:solidFill>
                            <a:srgbClr val="1B5EA8"/>
                          </a:solidFill>
                          <a:latin typeface="Meiryo"/>
                        </a:rPr>
                        <a:t>壁脱出 / 壁擦り</a:t>
                      </a:r>
                    </a:p>
                  </a:txBody>
                  <a:tcPr marL="64008" marR="64008" marT="27432" marB="27432">
                    <a:solidFill>
                      <a:srgbClr val="FFFFFF"/>
                    </a:solidFill>
                  </a:tcPr>
                </a:tc>
                <a:tc>
                  <a:txBody>
                    <a:bodyPr wrap="square"/>
                    <a:lstStyle/>
                    <a:p>
                      <a:r>
                        <a:rPr sz="1200" b="0">
                          <a:solidFill>
                            <a:srgbClr val="222222"/>
                          </a:solidFill>
                          <a:latin typeface="Meiryo"/>
                        </a:rPr>
                        <a:t>+0.4 / −0.6 (ゾーン 1 m)</a:t>
                      </a:r>
                    </a:p>
                  </a:txBody>
                  <a:tcPr marL="64008" marR="64008" marT="27432" marB="27432">
                    <a:solidFill>
                      <a:srgbClr val="FFFFFF"/>
                    </a:solidFill>
                  </a:tcPr>
                </a:tc>
              </a:tr>
              <a:tr h="502920">
                <a:tc>
                  <a:txBody>
                    <a:bodyPr wrap="square"/>
                    <a:lstStyle/>
                    <a:p>
                      <a:r>
                        <a:rPr sz="1200" b="1">
                          <a:solidFill>
                            <a:srgbClr val="1B5EA8"/>
                          </a:solidFill>
                          <a:latin typeface="Meiryo"/>
                        </a:rPr>
                        <a:t>CP / ラップ (生単位)</a:t>
                      </a:r>
                    </a:p>
                  </a:txBody>
                  <a:tcPr marL="64008" marR="64008" marT="27432" marB="27432">
                    <a:solidFill>
                      <a:srgbClr val="F2F5FA"/>
                    </a:solidFill>
                  </a:tcPr>
                </a:tc>
                <a:tc>
                  <a:txBody>
                    <a:bodyPr wrap="square"/>
                    <a:lstStyle/>
                    <a:p>
                      <a:r>
                        <a:rPr sz="1200" b="0">
                          <a:solidFill>
                            <a:srgbClr val="222222"/>
                          </a:solidFill>
                          <a:latin typeface="Meiryo"/>
                        </a:rPr>
                        <a:t>+1.0 / +2.0</a:t>
                      </a:r>
                    </a:p>
                  </a:txBody>
                  <a:tcPr marL="64008" marR="64008" marT="27432" marB="27432">
                    <a:solidFill>
                      <a:srgbClr val="F2F5FA"/>
                    </a:solidFill>
                  </a:tcPr>
                </a:tc>
              </a:tr>
              <a:tr h="502920">
                <a:tc>
                  <a:txBody>
                    <a:bodyPr wrap="square"/>
                    <a:lstStyle/>
                    <a:p>
                      <a:r>
                        <a:rPr sz="1200" b="1">
                          <a:solidFill>
                            <a:srgbClr val="1B5EA8"/>
                          </a:solidFill>
                          <a:latin typeface="Meiryo"/>
                        </a:rPr>
                        <a:t>衝突 (終端上書き)</a:t>
                      </a:r>
                    </a:p>
                  </a:txBody>
                  <a:tcPr marL="64008" marR="64008" marT="27432" marB="27432">
                    <a:solidFill>
                      <a:srgbClr val="FFFFFF"/>
                    </a:solidFill>
                  </a:tcPr>
                </a:tc>
                <a:tc>
                  <a:txBody>
                    <a:bodyPr wrap="square"/>
                    <a:lstStyle/>
                    <a:p>
                      <a:r>
                        <a:rPr sz="1200" b="0">
                          <a:solidFill>
                            <a:srgbClr val="222222"/>
                          </a:solidFill>
                          <a:latin typeface="Meiryo"/>
                        </a:rPr>
                        <a:t>−5.0</a:t>
                      </a:r>
                    </a:p>
                  </a:txBody>
                  <a:tcPr marL="64008" marR="64008" marT="27432" marB="27432">
                    <a:solidFill>
                      <a:srgbClr val="FFFFFF"/>
                    </a:solidFill>
                  </a:tcPr>
                </a:tc>
              </a:tr>
              <a:tr h="502920">
                <a:tc>
                  <a:txBody>
                    <a:bodyPr wrap="square"/>
                    <a:lstStyle/>
                    <a:p>
                      <a:r>
                        <a:rPr sz="1200" b="1">
                          <a:solidFill>
                            <a:srgbClr val="1B5EA8"/>
                          </a:solidFill>
                          <a:latin typeface="Meiryo"/>
                        </a:rPr>
                        <a:t>正規化</a:t>
                      </a:r>
                    </a:p>
                  </a:txBody>
                  <a:tcPr marL="64008" marR="64008" marT="27432" marB="27432">
                    <a:solidFill>
                      <a:srgbClr val="F2F5FA"/>
                    </a:solidFill>
                  </a:tcPr>
                </a:tc>
                <a:tc>
                  <a:txBody>
                    <a:bodyPr wrap="square"/>
                    <a:lstStyle/>
                    <a:p>
                      <a:r>
                        <a:rPr sz="1200" b="0">
                          <a:solidFill>
                            <a:srgbClr val="222222"/>
                          </a:solidFill>
                          <a:latin typeface="Meiryo"/>
                        </a:rPr>
                        <a:t>lmap [−3,3] → [0,1] → clip</a:t>
                      </a:r>
                    </a:p>
                  </a:txBody>
                  <a:tcPr marL="64008" marR="64008" marT="27432" marB="27432">
                    <a:solidFill>
                      <a:srgbClr val="F2F5FA"/>
                    </a:solidFill>
                  </a:tcPr>
                </a:tc>
              </a:tr>
            </a:tbl>
          </a:graphicData>
        </a:graphic>
      </p:graphicFrame>
      <p:graphicFrame>
        <p:nvGraphicFramePr>
          <p:cNvPr id="4" name="Table 3"/>
          <p:cNvGraphicFramePr>
            <a:graphicFrameLocks noGrp="1"/>
          </p:cNvGraphicFramePr>
          <p:nvPr/>
        </p:nvGraphicFramePr>
        <p:xfrm>
          <a:off x="6263640" y="1280160"/>
          <a:ext cx="5577840" cy="5029200"/>
        </p:xfrm>
        <a:graphic>
          <a:graphicData uri="http://schemas.openxmlformats.org/drawingml/2006/table">
            <a:tbl>
              <a:tblPr firstRow="1" bandRow="1">
                <a:tableStyleId>{5C22544A-7EE6-4342-B048-85BDC9FD1C3A}</a:tableStyleId>
              </a:tblPr>
              <a:tblGrid>
                <a:gridCol w="2606040"/>
                <a:gridCol w="2971800"/>
              </a:tblGrid>
              <a:tr h="502920">
                <a:tc>
                  <a:txBody>
                    <a:bodyPr wrap="square"/>
                    <a:lstStyle/>
                    <a:p>
                      <a:r>
                        <a:rPr sz="1300" b="1">
                          <a:solidFill>
                            <a:srgbClr val="FFFFFF"/>
                          </a:solidFill>
                          <a:latin typeface="Meiryo"/>
                        </a:rPr>
                        <a:t>シミュレーション / 行動 / 観測</a:t>
                      </a:r>
                    </a:p>
                  </a:txBody>
                  <a:tcPr marL="64008" marR="64008" marT="27432" marB="27432">
                    <a:solidFill>
                      <a:srgbClr val="1B5EA8"/>
                    </a:solidFill>
                  </a:tcPr>
                </a:tc>
                <a:tc>
                  <a:txBody>
                    <a:bodyPr wrap="square"/>
                    <a:lstStyle/>
                    <a:p>
                      <a:r>
                        <a:rPr sz="1300" b="1">
                          <a:solidFill>
                            <a:srgbClr val="FFFFFF"/>
                          </a:solidFill>
                          <a:latin typeface="Meiryo"/>
                        </a:rPr>
                        <a:t>値</a:t>
                      </a:r>
                    </a:p>
                  </a:txBody>
                  <a:tcPr marL="64008" marR="64008" marT="27432" marB="27432">
                    <a:solidFill>
                      <a:srgbClr val="1B5EA8"/>
                    </a:solidFill>
                  </a:tcPr>
                </a:tc>
              </a:tr>
              <a:tr h="502920">
                <a:tc>
                  <a:txBody>
                    <a:bodyPr wrap="square"/>
                    <a:lstStyle/>
                    <a:p>
                      <a:r>
                        <a:rPr sz="1200" b="1">
                          <a:solidFill>
                            <a:srgbClr val="1B5EA8"/>
                          </a:solidFill>
                          <a:latin typeface="Meiryo"/>
                        </a:rPr>
                        <a:t>物理 / 意思決定</a:t>
                      </a:r>
                    </a:p>
                  </a:txBody>
                  <a:tcPr marL="64008" marR="64008" marT="27432" marB="27432">
                    <a:solidFill>
                      <a:srgbClr val="F2F5FA"/>
                    </a:solidFill>
                  </a:tcPr>
                </a:tc>
                <a:tc>
                  <a:txBody>
                    <a:bodyPr wrap="square"/>
                    <a:lstStyle/>
                    <a:p>
                      <a:r>
                        <a:rPr sz="1200" b="0">
                          <a:solidFill>
                            <a:srgbClr val="222222"/>
                          </a:solidFill>
                          <a:latin typeface="Meiryo"/>
                        </a:rPr>
                        <a:t>15 Hz / 5 Hz (repeat 3)</a:t>
                      </a:r>
                    </a:p>
                  </a:txBody>
                  <a:tcPr marL="64008" marR="64008" marT="27432" marB="27432">
                    <a:solidFill>
                      <a:srgbClr val="F2F5FA"/>
                    </a:solidFill>
                  </a:tcPr>
                </a:tc>
              </a:tr>
              <a:tr h="502920">
                <a:tc>
                  <a:txBody>
                    <a:bodyPr wrap="square"/>
                    <a:lstStyle/>
                    <a:p>
                      <a:r>
                        <a:rPr sz="1200" b="1">
                          <a:solidFill>
                            <a:srgbClr val="1B5EA8"/>
                          </a:solidFill>
                          <a:latin typeface="Meiryo"/>
                        </a:rPr>
                        <a:t>制限速度</a:t>
                      </a:r>
                    </a:p>
                  </a:txBody>
                  <a:tcPr marL="64008" marR="64008" marT="27432" marB="27432">
                    <a:solidFill>
                      <a:srgbClr val="FFFFFF"/>
                    </a:solidFill>
                  </a:tcPr>
                </a:tc>
                <a:tc>
                  <a:txBody>
                    <a:bodyPr wrap="square"/>
                    <a:lstStyle/>
                    <a:p>
                      <a:r>
                        <a:rPr sz="1200" b="0">
                          <a:solidFill>
                            <a:srgbClr val="222222"/>
                          </a:solidFill>
                          <a:latin typeface="Meiryo"/>
                        </a:rPr>
                        <a:t>16 m/s</a:t>
                      </a:r>
                    </a:p>
                  </a:txBody>
                  <a:tcPr marL="64008" marR="64008" marT="27432" marB="27432">
                    <a:solidFill>
                      <a:srgbClr val="FFFFFF"/>
                    </a:solidFill>
                  </a:tcPr>
                </a:tc>
              </a:tr>
              <a:tr h="502920">
                <a:tc>
                  <a:txBody>
                    <a:bodyPr wrap="square"/>
                    <a:lstStyle/>
                    <a:p>
                      <a:r>
                        <a:rPr sz="1200" b="1">
                          <a:solidFill>
                            <a:srgbClr val="1B5EA8"/>
                          </a:solidFill>
                          <a:latin typeface="Meiryo"/>
                        </a:rPr>
                        <a:t>加速度レンジ</a:t>
                      </a:r>
                    </a:p>
                  </a:txBody>
                  <a:tcPr marL="64008" marR="64008" marT="27432" marB="27432">
                    <a:solidFill>
                      <a:srgbClr val="F2F5FA"/>
                    </a:solidFill>
                  </a:tcPr>
                </a:tc>
                <a:tc>
                  <a:txBody>
                    <a:bodyPr wrap="square"/>
                    <a:lstStyle/>
                    <a:p>
                      <a:r>
                        <a:rPr sz="1200" b="0">
                          <a:solidFill>
                            <a:srgbClr val="222222"/>
                          </a:solidFill>
                          <a:latin typeface="Meiryo"/>
                        </a:rPr>
                        <a:t>±5 m/s²</a:t>
                      </a:r>
                    </a:p>
                  </a:txBody>
                  <a:tcPr marL="64008" marR="64008" marT="27432" marB="27432">
                    <a:solidFill>
                      <a:srgbClr val="F2F5FA"/>
                    </a:solidFill>
                  </a:tcPr>
                </a:tc>
              </a:tr>
              <a:tr h="502920">
                <a:tc>
                  <a:txBody>
                    <a:bodyPr wrap="square"/>
                    <a:lstStyle/>
                    <a:p>
                      <a:r>
                        <a:rPr sz="1200" b="1">
                          <a:solidFill>
                            <a:srgbClr val="1B5EA8"/>
                          </a:solidFill>
                          <a:latin typeface="Meiryo"/>
                        </a:rPr>
                        <a:t>舵角レンジ</a:t>
                      </a:r>
                    </a:p>
                  </a:txBody>
                  <a:tcPr marL="64008" marR="64008" marT="27432" marB="27432">
                    <a:solidFill>
                      <a:srgbClr val="FFFFFF"/>
                    </a:solidFill>
                  </a:tcPr>
                </a:tc>
                <a:tc>
                  <a:txBody>
                    <a:bodyPr wrap="square"/>
                    <a:lstStyle/>
                    <a:p>
                      <a:r>
                        <a:rPr sz="1200" b="0">
                          <a:solidFill>
                            <a:srgbClr val="222222"/>
                          </a:solidFill>
                          <a:latin typeface="Meiryo"/>
                        </a:rPr>
                        <a:t>±π/6 (30°)</a:t>
                      </a:r>
                    </a:p>
                  </a:txBody>
                  <a:tcPr marL="64008" marR="64008" marT="27432" marB="27432">
                    <a:solidFill>
                      <a:srgbClr val="FFFFFF"/>
                    </a:solidFill>
                  </a:tcPr>
                </a:tc>
              </a:tr>
              <a:tr h="502920">
                <a:tc>
                  <a:txBody>
                    <a:bodyPr wrap="square"/>
                    <a:lstStyle/>
                    <a:p>
                      <a:r>
                        <a:rPr sz="1200" b="1">
                          <a:solidFill>
                            <a:srgbClr val="1B5EA8"/>
                          </a:solidFill>
                          <a:latin typeface="Meiryo"/>
                        </a:rPr>
                        <a:t>車両モデル</a:t>
                      </a:r>
                    </a:p>
                  </a:txBody>
                  <a:tcPr marL="64008" marR="64008" marT="27432" marB="27432">
                    <a:solidFill>
                      <a:srgbClr val="F2F5FA"/>
                    </a:solidFill>
                  </a:tcPr>
                </a:tc>
                <a:tc>
                  <a:txBody>
                    <a:bodyPr wrap="square"/>
                    <a:lstStyle/>
                    <a:p>
                      <a:r>
                        <a:rPr sz="1200" b="0">
                          <a:solidFill>
                            <a:srgbClr val="222222"/>
                          </a:solidFill>
                          <a:latin typeface="Meiryo"/>
                        </a:rPr>
                        <a:t>動的 Bicycle (RK4)</a:t>
                      </a:r>
                    </a:p>
                  </a:txBody>
                  <a:tcPr marL="64008" marR="64008" marT="27432" marB="27432">
                    <a:solidFill>
                      <a:srgbClr val="F2F5FA"/>
                    </a:solidFill>
                  </a:tcPr>
                </a:tc>
              </a:tr>
              <a:tr h="502920">
                <a:tc>
                  <a:txBody>
                    <a:bodyPr wrap="square"/>
                    <a:lstStyle/>
                    <a:p>
                      <a:r>
                        <a:rPr sz="1200" b="1">
                          <a:solidFill>
                            <a:srgbClr val="1B5EA8"/>
                          </a:solidFill>
                          <a:latin typeface="Meiryo"/>
                        </a:rPr>
                        <a:t>観測</a:t>
                      </a:r>
                    </a:p>
                  </a:txBody>
                  <a:tcPr marL="64008" marR="64008" marT="27432" marB="27432">
                    <a:solidFill>
                      <a:srgbClr val="FFFFFF"/>
                    </a:solidFill>
                  </a:tcPr>
                </a:tc>
                <a:tc>
                  <a:txBody>
                    <a:bodyPr wrap="square"/>
                    <a:lstStyle/>
                    <a:p>
                      <a:r>
                        <a:rPr sz="1200" b="0">
                          <a:solidFill>
                            <a:srgbClr val="222222"/>
                          </a:solidFill>
                          <a:latin typeface="Meiryo"/>
                        </a:rPr>
                        <a:t>10ch, 前27/後9/横±18 m, 3 m</a:t>
                      </a:r>
                    </a:p>
                  </a:txBody>
                  <a:tcPr marL="64008" marR="64008" marT="27432" marB="27432">
                    <a:solidFill>
                      <a:srgbClr val="FFFFFF"/>
                    </a:solidFill>
                  </a:tcPr>
                </a:tc>
              </a:tr>
              <a:tr h="502920">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stop + 摩擦 0.6, 35 step 終端</a:t>
                      </a:r>
                    </a:p>
                  </a:txBody>
                  <a:tcPr marL="64008" marR="64008" marT="27432" marB="27432">
                    <a:solidFill>
                      <a:srgbClr val="F2F5FA"/>
                    </a:solidFill>
                  </a:tcPr>
                </a:tc>
              </a:tr>
              <a:tr h="502920">
                <a:tc>
                  <a:txBody>
                    <a:bodyPr wrap="square"/>
                    <a:lstStyle/>
                    <a:p>
                      <a:r>
                        <a:rPr sz="1200" b="1">
                          <a:solidFill>
                            <a:srgbClr val="1B5EA8"/>
                          </a:solidFill>
                          <a:latin typeface="Meiryo"/>
                        </a:rPr>
                        <a:t>エピソード長</a:t>
                      </a:r>
                    </a:p>
                  </a:txBody>
                  <a:tcPr marL="64008" marR="64008" marT="27432" marB="27432">
                    <a:solidFill>
                      <a:srgbClr val="FFFFFF"/>
                    </a:solidFill>
                  </a:tcPr>
                </a:tc>
                <a:tc>
                  <a:txBody>
                    <a:bodyPr wrap="square"/>
                    <a:lstStyle/>
                    <a:p>
                      <a:r>
                        <a:rPr sz="1200" b="0">
                          <a:solidFill>
                            <a:srgbClr val="222222"/>
                          </a:solidFill>
                          <a:latin typeface="Meiryo"/>
                        </a:rPr>
                        <a:t>800 s (評価 120/60 s)</a:t>
                      </a:r>
                    </a:p>
                  </a:txBody>
                  <a:tcPr marL="64008" marR="64008" marT="27432" marB="27432">
                    <a:solidFill>
                      <a:srgbClr val="FFFFFF"/>
                    </a:solidFill>
                  </a:tcPr>
                </a:tc>
              </a:tr>
              <a:tr h="502920">
                <a:tc>
                  <a:txBody>
                    <a:bodyPr wrap="square"/>
                    <a:lstStyle/>
                    <a:p>
                      <a:r>
                        <a:rPr sz="1200" b="1">
                          <a:solidFill>
                            <a:srgbClr val="1B5EA8"/>
                          </a:solidFill>
                          <a:latin typeface="Meiryo"/>
                        </a:rPr>
                        <a:t>路外</a:t>
                      </a:r>
                    </a:p>
                  </a:txBody>
                  <a:tcPr marL="64008" marR="64008" marT="27432" marB="27432">
                    <a:solidFill>
                      <a:srgbClr val="F2F5FA"/>
                    </a:solidFill>
                  </a:tcPr>
                </a:tc>
                <a:tc>
                  <a:txBody>
                    <a:bodyPr wrap="square"/>
                    <a:lstStyle/>
                    <a:p>
                      <a:r>
                        <a:rPr sz="1200" b="0">
                          <a:solidFill>
                            <a:srgbClr val="222222"/>
                          </a:solidFill>
                          <a:latin typeface="Meiryo"/>
                        </a:rPr>
                        <a:t>terminate_off_road=True</a:t>
                      </a:r>
                    </a:p>
                  </a:txBody>
                  <a:tcPr marL="64008" marR="64008" marT="27432" marB="27432">
                    <a:solidFill>
                      <a:srgbClr val="F2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残課題 — ONNX をゲームエンジンで動かす (今回は実機デモ未到達)</a:t>
            </a:r>
          </a:p>
        </p:txBody>
      </p:sp>
      <p:sp>
        <p:nvSpPr>
          <p:cNvPr id="3" name="TextBox 2"/>
          <p:cNvSpPr txBox="1"/>
          <p:nvPr/>
        </p:nvSpPr>
        <p:spPr>
          <a:xfrm>
            <a:off x="457200" y="1234440"/>
            <a:ext cx="11247120" cy="5486400"/>
          </a:xfrm>
          <a:prstGeom prst="rect">
            <a:avLst/>
          </a:prstGeom>
          <a:noFill/>
        </p:spPr>
        <p:txBody>
          <a:bodyPr wrap="square">
            <a:spAutoFit/>
          </a:bodyPr>
          <a:lstStyle/>
          <a:p>
            <a:pPr>
              <a:spcAft>
                <a:spcPts val="600"/>
              </a:spcAft>
            </a:pPr>
            <a:r>
              <a:rPr sz="1500" b="1">
                <a:solidFill>
                  <a:srgbClr val="222222"/>
                </a:solidFill>
                <a:latin typeface="Meiryo"/>
              </a:rPr>
              <a:t>前提知識: ONNX モデル = 計算グラフ (ノード = レイヤ/演算子 の有向グラフ)</a:t>
            </a:r>
          </a:p>
          <a:p>
            <a:pPr lvl="1">
              <a:spcAft>
                <a:spcPts val="200"/>
              </a:spcAft>
            </a:pPr>
            <a:r>
              <a:rPr sz="1300" b="0">
                <a:solidFill>
                  <a:srgbClr val="595959"/>
                </a:solidFill>
                <a:latin typeface="Meiryo"/>
              </a:rPr>
              <a:t>・各ノード = op_type (Gemm/Conv/Flatten…) + 入力/出力 + 属性 (attributes)</a:t>
            </a:r>
          </a:p>
          <a:p>
            <a:pPr lvl="1">
              <a:spcAft>
                <a:spcPts val="200"/>
              </a:spcAft>
            </a:pPr>
            <a:r>
              <a:rPr sz="1300" b="0">
                <a:solidFill>
                  <a:srgbClr val="595959"/>
                </a:solidFill>
                <a:latin typeface="Meiryo"/>
              </a:rPr>
              <a:t>・属性 = 演算の静的パラメータ (例: Gemm の transB=重み転置, Conv の strides)</a:t>
            </a:r>
          </a:p>
          <a:p>
            <a:pPr lvl="1">
              <a:spcAft>
                <a:spcPts val="200"/>
              </a:spcAft>
            </a:pPr>
            <a:r>
              <a:rPr sz="1300" b="0">
                <a:solidFill>
                  <a:srgbClr val="B32D2D"/>
                </a:solidFill>
                <a:latin typeface="Meiryo"/>
              </a:rPr>
              <a:t>・ランタイム (RE Engine) は全 op_type と属性を実装要 — 未対応なら失敗 or 誤出力</a:t>
            </a:r>
          </a:p>
          <a:p>
            <a:pPr>
              <a:spcAft>
                <a:spcPts val="600"/>
              </a:spcAft>
            </a:pPr>
            <a:r>
              <a:rPr sz="1500" b="1">
                <a:solidFill>
                  <a:srgbClr val="B32D2D"/>
                </a:solidFill>
                <a:latin typeface="Meiryo"/>
              </a:rPr>
              <a:t>今回の状況: モデルは変換 (transform) を経ないと RE Engine で使えず、</a:t>
            </a:r>
          </a:p>
          <a:p>
            <a:pPr lvl="1">
              <a:spcAft>
                <a:spcPts val="200"/>
              </a:spcAft>
            </a:pPr>
            <a:r>
              <a:rPr sz="1300" b="0">
                <a:solidFill>
                  <a:srgbClr val="B32D2D"/>
                </a:solidFill>
                <a:latin typeface="Meiryo"/>
              </a:rPr>
              <a:t>・未対応レイヤ/属性が残り、ゲーム内で正しく動作せず → 実機デモに未到達</a:t>
            </a:r>
          </a:p>
        </p:txBody>
      </p:sp>
      <p:graphicFrame>
        <p:nvGraphicFramePr>
          <p:cNvPr id="4" name="Table 3"/>
          <p:cNvGraphicFramePr>
            <a:graphicFrameLocks noGrp="1"/>
          </p:cNvGraphicFramePr>
          <p:nvPr/>
        </p:nvGraphicFramePr>
        <p:xfrm>
          <a:off x="457200" y="3886200"/>
          <a:ext cx="11247120" cy="2377440"/>
        </p:xfrm>
        <a:graphic>
          <a:graphicData uri="http://schemas.openxmlformats.org/drawingml/2006/table">
            <a:tbl>
              <a:tblPr firstRow="1" bandRow="1">
                <a:tableStyleId>{5C22544A-7EE6-4342-B048-85BDC9FD1C3A}</a:tableStyleId>
              </a:tblPr>
              <a:tblGrid>
                <a:gridCol w="2468880"/>
                <a:gridCol w="3657600"/>
                <a:gridCol w="5120640"/>
              </a:tblGrid>
              <a:tr h="475488">
                <a:tc>
                  <a:txBody>
                    <a:bodyPr wrap="square"/>
                    <a:lstStyle/>
                    <a:p>
                      <a:r>
                        <a:rPr sz="1200" b="1">
                          <a:solidFill>
                            <a:srgbClr val="FFFFFF"/>
                          </a:solidFill>
                          <a:latin typeface="Meiryo"/>
                        </a:rPr>
                        <a:t>レイヤ (op_type)</a:t>
                      </a:r>
                    </a:p>
                  </a:txBody>
                  <a:tcPr marL="64008" marR="64008" marT="27432" marB="27432">
                    <a:solidFill>
                      <a:srgbClr val="1B5EA8"/>
                    </a:solidFill>
                  </a:tcPr>
                </a:tc>
                <a:tc>
                  <a:txBody>
                    <a:bodyPr wrap="square"/>
                    <a:lstStyle/>
                    <a:p>
                      <a:r>
                        <a:rPr sz="1200" b="1">
                          <a:solidFill>
                            <a:srgbClr val="FFFFFF"/>
                          </a:solidFill>
                          <a:latin typeface="Meiryo"/>
                        </a:rPr>
                        <a:t>役割</a:t>
                      </a:r>
                    </a:p>
                  </a:txBody>
                  <a:tcPr marL="64008" marR="64008" marT="27432" marB="27432">
                    <a:solidFill>
                      <a:srgbClr val="1B5EA8"/>
                    </a:solidFill>
                  </a:tcPr>
                </a:tc>
                <a:tc>
                  <a:txBody>
                    <a:bodyPr wrap="square"/>
                    <a:lstStyle/>
                    <a:p>
                      <a:r>
                        <a:rPr sz="1200" b="1">
                          <a:solidFill>
                            <a:srgbClr val="FFFFFF"/>
                          </a:solidFill>
                          <a:latin typeface="Meiryo"/>
                        </a:rPr>
                        <a:t>今回の対応</a:t>
                      </a:r>
                    </a:p>
                  </a:txBody>
                  <a:tcPr marL="64008" marR="64008" marT="27432" marB="27432">
                    <a:solidFill>
                      <a:srgbClr val="1B5EA8"/>
                    </a:solidFill>
                  </a:tcPr>
                </a:tc>
              </a:tr>
              <a:tr h="475488">
                <a:tc>
                  <a:txBody>
                    <a:bodyPr wrap="square"/>
                    <a:lstStyle/>
                    <a:p>
                      <a:r>
                        <a:rPr sz="1200" b="1">
                          <a:solidFill>
                            <a:srgbClr val="1B5EA8"/>
                          </a:solidFill>
                          <a:latin typeface="Meiryo"/>
                        </a:rPr>
                        <a:t>Flatten</a:t>
                      </a:r>
                    </a:p>
                  </a:txBody>
                  <a:tcPr marL="64008" marR="64008" marT="27432" marB="27432">
                    <a:solidFill>
                      <a:srgbClr val="F2F5FA"/>
                    </a:solidFill>
                  </a:tcPr>
                </a:tc>
                <a:tc>
                  <a:txBody>
                    <a:bodyPr wrap="square"/>
                    <a:lstStyle/>
                    <a:p>
                      <a:r>
                        <a:rPr sz="1200" b="0">
                          <a:solidFill>
                            <a:srgbClr val="222222"/>
                          </a:solidFill>
                          <a:latin typeface="Meiryo"/>
                        </a:rPr>
                        <a:t>多次元テンソルを平坦化</a:t>
                      </a:r>
                    </a:p>
                  </a:txBody>
                  <a:tcPr marL="64008" marR="64008" marT="27432" marB="27432">
                    <a:solidFill>
                      <a:srgbClr val="F2F5FA"/>
                    </a:solidFill>
                  </a:tcPr>
                </a:tc>
                <a:tc>
                  <a:txBody>
                    <a:bodyPr wrap="square"/>
                    <a:lstStyle/>
                    <a:p>
                      <a:r>
                        <a:rPr sz="1200" b="0">
                          <a:solidFill>
                            <a:srgbClr val="222222"/>
                          </a:solidFill>
                          <a:latin typeface="Meiryo"/>
                        </a:rPr>
                        <a:t>RE Engine は入力を 1 次元扱い → 実質 no-op で問題なし ✓</a:t>
                      </a:r>
                    </a:p>
                  </a:txBody>
                  <a:tcPr marL="64008" marR="64008" marT="27432" marB="27432">
                    <a:solidFill>
                      <a:srgbClr val="F2F5FA"/>
                    </a:solidFill>
                  </a:tcPr>
                </a:tc>
              </a:tr>
              <a:tr h="475488">
                <a:tc>
                  <a:txBody>
                    <a:bodyPr wrap="square"/>
                    <a:lstStyle/>
                    <a:p>
                      <a:r>
                        <a:rPr sz="1200" b="1">
                          <a:solidFill>
                            <a:srgbClr val="1B5EA8"/>
                          </a:solidFill>
                          <a:latin typeface="Meiryo"/>
                        </a:rPr>
                        <a:t>Gemm (transB)</a:t>
                      </a:r>
                    </a:p>
                  </a:txBody>
                  <a:tcPr marL="64008" marR="64008" marT="27432" marB="27432">
                    <a:solidFill>
                      <a:srgbClr val="FFFFFF"/>
                    </a:solidFill>
                  </a:tcPr>
                </a:tc>
                <a:tc>
                  <a:txBody>
                    <a:bodyPr wrap="square"/>
                    <a:lstStyle/>
                    <a:p>
                      <a:r>
                        <a:rPr sz="1200" b="0">
                          <a:solidFill>
                            <a:srgbClr val="222222"/>
                          </a:solidFill>
                          <a:latin typeface="Meiryo"/>
                        </a:rPr>
                        <a:t>全結合。transB は重み B を転置</a:t>
                      </a:r>
                    </a:p>
                  </a:txBody>
                  <a:tcPr marL="64008" marR="64008" marT="27432" marB="27432">
                    <a:solidFill>
                      <a:srgbClr val="FFFFFF"/>
                    </a:solidFill>
                  </a:tcPr>
                </a:tc>
                <a:tc>
                  <a:txBody>
                    <a:bodyPr wrap="square"/>
                    <a:lstStyle/>
                    <a:p>
                      <a:r>
                        <a:rPr sz="1200" b="0">
                          <a:solidFill>
                            <a:srgbClr val="222222"/>
                          </a:solidFill>
                          <a:latin typeface="Meiryo"/>
                        </a:rPr>
                        <a:t>変換スクリプトで転置を解決済み ✓</a:t>
                      </a:r>
                    </a:p>
                  </a:txBody>
                  <a:tcPr marL="64008" marR="64008" marT="27432" marB="27432">
                    <a:solidFill>
                      <a:srgbClr val="FFFFFF"/>
                    </a:solidFill>
                  </a:tcPr>
                </a:tc>
              </a:tr>
              <a:tr h="475488">
                <a:tc>
                  <a:txBody>
                    <a:bodyPr wrap="square"/>
                    <a:lstStyle/>
                    <a:p>
                      <a:r>
                        <a:rPr sz="1200" b="1">
                          <a:solidFill>
                            <a:srgbClr val="1B5EA8"/>
                          </a:solidFill>
                          <a:latin typeface="Meiryo"/>
                        </a:rPr>
                        <a:t>ConstantOfShape</a:t>
                      </a:r>
                    </a:p>
                  </a:txBody>
                  <a:tcPr marL="64008" marR="64008" marT="27432" marB="27432">
                    <a:solidFill>
                      <a:srgbClr val="F2F5FA"/>
                    </a:solidFill>
                  </a:tcPr>
                </a:tc>
                <a:tc>
                  <a:txBody>
                    <a:bodyPr wrap="square"/>
                    <a:lstStyle/>
                    <a:p>
                      <a:r>
                        <a:rPr sz="1200" b="0">
                          <a:solidFill>
                            <a:srgbClr val="222222"/>
                          </a:solidFill>
                          <a:latin typeface="Meiryo"/>
                        </a:rPr>
                        <a:t>指定形状を定数で充填 (ゼロ等)</a:t>
                      </a:r>
                    </a:p>
                  </a:txBody>
                  <a:tcPr marL="64008" marR="64008" marT="27432" marB="27432">
                    <a:solidFill>
                      <a:srgbClr val="F2F5FA"/>
                    </a:solidFill>
                  </a:tcPr>
                </a:tc>
                <a:tc>
                  <a:txBody>
                    <a:bodyPr wrap="square"/>
                    <a:lstStyle/>
                    <a:p>
                      <a:r>
                        <a:rPr sz="1200" b="0">
                          <a:solidFill>
                            <a:srgbClr val="222222"/>
                          </a:solidFill>
                          <a:latin typeface="Meiryo"/>
                        </a:rPr>
                        <a:t>変換側は 0 次元出力を許容 / RE Engine 側は未対応 △</a:t>
                      </a:r>
                    </a:p>
                  </a:txBody>
                  <a:tcPr marL="64008" marR="64008" marT="27432" marB="27432">
                    <a:solidFill>
                      <a:srgbClr val="F2F5FA"/>
                    </a:solidFill>
                  </a:tcPr>
                </a:tc>
              </a:tr>
              <a:tr h="475488">
                <a:tc>
                  <a:txBody>
                    <a:bodyPr wrap="square"/>
                    <a:lstStyle/>
                    <a:p>
                      <a:r>
                        <a:rPr sz="1200" b="1">
                          <a:solidFill>
                            <a:srgbClr val="1B5EA8"/>
                          </a:solidFill>
                          <a:latin typeface="Meiryo"/>
                        </a:rPr>
                        <a:t>その他の必要レイヤ</a:t>
                      </a:r>
                    </a:p>
                  </a:txBody>
                  <a:tcPr marL="64008" marR="64008" marT="27432" marB="27432">
                    <a:solidFill>
                      <a:srgbClr val="FFFFFF"/>
                    </a:solidFill>
                  </a:tcPr>
                </a:tc>
                <a:tc>
                  <a:txBody>
                    <a:bodyPr wrap="square"/>
                    <a:lstStyle/>
                    <a:p>
                      <a:r>
                        <a:rPr sz="1200" b="0">
                          <a:solidFill>
                            <a:srgbClr val="222222"/>
                          </a:solidFill>
                          <a:latin typeface="Meiryo"/>
                        </a:rPr>
                        <a:t>—</a:t>
                      </a:r>
                    </a:p>
                  </a:txBody>
                  <a:tcPr marL="64008" marR="64008" marT="27432" marB="27432">
                    <a:solidFill>
                      <a:srgbClr val="FFFFFF"/>
                    </a:solidFill>
                  </a:tcPr>
                </a:tc>
                <a:tc>
                  <a:txBody>
                    <a:bodyPr wrap="square"/>
                    <a:lstStyle/>
                    <a:p>
                      <a:r>
                        <a:rPr sz="1200" b="0">
                          <a:solidFill>
                            <a:srgbClr val="222222"/>
                          </a:solidFill>
                          <a:latin typeface="Meiryo"/>
                        </a:rPr>
                        <a:t>未完 → ゲーム内で誤動作 (次の最優先課題) ✗</a:t>
                      </a:r>
                    </a:p>
                  </a:txBody>
                  <a:tcPr marL="64008" marR="64008"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ゲーム AI は「目的ファースト」で環境を設計する</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600" b="1">
                <a:solidFill>
                  <a:srgbClr val="1B5EA8"/>
                </a:solidFill>
                <a:latin typeface="Meiryo"/>
              </a:rPr>
              <a:t>最大の学び: 良いゲーム AI は「ゲームの要件」次第 — 設計前に目的を定める</a:t>
            </a:r>
          </a:p>
          <a:p>
            <a:pPr lvl="1">
              <a:spcAft>
                <a:spcPts val="200"/>
              </a:spcAft>
            </a:pPr>
            <a:r>
              <a:rPr sz="1400" b="0">
                <a:solidFill>
                  <a:srgbClr val="595959"/>
                </a:solidFill>
                <a:latin typeface="Meiryo"/>
              </a:rPr>
              <a:t>・目的はゲームごとに大きく異なる → 何を模擬し何を省くかは目的が決める</a:t>
            </a:r>
          </a:p>
          <a:p>
            <a:pPr lvl="1">
              <a:spcAft>
                <a:spcPts val="200"/>
              </a:spcAft>
            </a:pPr>
            <a:r>
              <a:rPr sz="1400" b="0">
                <a:solidFill>
                  <a:srgbClr val="595959"/>
                </a:solidFill>
                <a:latin typeface="Meiryo"/>
              </a:rPr>
              <a:t>・今回の目的 (レース) が要求した模擬: 壁・摩擦・車サイズ・トラックサイズ など</a:t>
            </a:r>
          </a:p>
          <a:p>
            <a:pPr lvl="1">
              <a:spcAft>
                <a:spcPts val="200"/>
              </a:spcAft>
            </a:pPr>
            <a:r>
              <a:rPr sz="1400" b="0">
                <a:solidFill>
                  <a:srgbClr val="595959"/>
                </a:solidFill>
                <a:latin typeface="Meiryo"/>
              </a:rPr>
              <a:t>・別ゲームでは模擬対象が変わる (地形・武器・群衆・経済…) — 汎用の正解はない</a:t>
            </a:r>
          </a:p>
          <a:p>
            <a:pPr>
              <a:spcAft>
                <a:spcPts val="600"/>
              </a:spcAft>
            </a:pPr>
            <a:r>
              <a:rPr sz="1600" b="1">
                <a:solidFill>
                  <a:srgbClr val="222222"/>
                </a:solidFill>
                <a:latin typeface="Meiryo"/>
              </a:rPr>
              <a:t>技術の振り返り</a:t>
            </a:r>
          </a:p>
          <a:p>
            <a:pPr lvl="1">
              <a:spcAft>
                <a:spcPts val="200"/>
              </a:spcAft>
            </a:pPr>
            <a:r>
              <a:rPr sz="1400" b="0">
                <a:solidFill>
                  <a:srgbClr val="595959"/>
                </a:solidFill>
                <a:latin typeface="Meiryo"/>
              </a:rPr>
              <a:t>・環境の 5 段階進化 (行動→壁→報酬→観測→トラック) + 報酬の経済設計 → 6 万 step で周回</a:t>
            </a:r>
          </a:p>
          <a:p>
            <a:pPr lvl="1">
              <a:spcAft>
                <a:spcPts val="200"/>
              </a:spcAft>
            </a:pPr>
            <a:r>
              <a:rPr sz="1400" b="0">
                <a:solidFill>
                  <a:srgbClr val="595959"/>
                </a:solidFill>
                <a:latin typeface="Meiryo"/>
              </a:rPr>
              <a:t>・汎化 = 自己位置を見せない観測の帰納バイアス / 図・動画はノートブックから再現可</a:t>
            </a:r>
          </a:p>
          <a:p>
            <a:pPr>
              <a:spcAft>
                <a:spcPts val="600"/>
              </a:spcAft>
            </a:pPr>
            <a:r>
              <a:rPr sz="1600" b="1">
                <a:solidFill>
                  <a:srgbClr val="B32D2D"/>
                </a:solidFill>
                <a:latin typeface="Meiryo"/>
              </a:rPr>
              <a:t>残課題: ONNX 全レイヤ対応を完了し RE Engine で実走 → 壁摩擦・動力学の実測適合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