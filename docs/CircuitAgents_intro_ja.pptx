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本日は CircuitAgents プロジェクトを 10 分で紹介します。highway-env をベースに、ゲームのレース環境に近づけるための改造を重ねて強化学習エージェントを育て、ONNX 経由で C# ゲームエンジンにデプロイするまでのパイプラインです。まず結果の映像とグラフをご覧いただき、その後で highway-env のデフォルト設定と我々が加えた変更の進化の過程、最後にセットアップとツールの使い方を説明します。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説明の前に、まず走りをご覧ください。これはエピソードごとにコースをランダムに切り替えて学習した「汎化モデル」1 つを、5 つのコースで同時に評価した動画です。赤い点が車、軌跡の色が速度です。直線では黄色、つまり制限速度の 16 m/s 付近、コーナーでは適切に減速しているのが分かります。どのコースも 2 分間、壁への衝突ゼロで周回し続けます。では、この走りがどう作られたかを見ていきます。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学習の速さです。横軸が学習ステップ、縦軸が 1 エピソードあたりの周回数です。青が fast トラック単体の学習で、3 万ステップでは 1 周で壁に刺さりますが、6 万で 32 周、9 万で 36 周に達し、以降は制限速度巡航に収束します。オレンジがランダムトラック学習で、最難関の chicane 評価でも 5 万ステップから 33 周と、ほぼ同じ速度で立ち上がります。この速さは偶然ではなく、後で説明する報酬設計の結果です。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台分の軌跡を拡大したものです。12 万ステップの fast-dev モデルの 2 分間で、黒線がコースの物理壁、点の色が速度です。直線で最高速に達し、ヘアピン進入で青く、つまりしっかり減速し、出口で再加速しています。以前は S 字の先の e-f コーナーで壁に張り付いて動けなくなる問題がありましたが、報酬の再設計で解消しました。この「壁に張り付く」問題との戦いが、本プロジェクトの中心的なエピソードです。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映像で見ていただいた結果を数字でまとめます。fast トラックで 800 秒 37 周・無衝突。周回能力の獲得は 3 万から 6 万ステップ。12 万ステップの短縮設定 fast-dev でも、NPC ありのフェーズ 2 まで通して 37 周を維持します。汎化モデルは 5 コースすべてを平均 15.7 m/s で走破。そして C# 側の観測生成は Python とビット一致、車両物理も 1e-7 で一致しており、エンジンに載せた瞬間から学習時と同じ挙動が保証されます。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ここからが本題です。ベースにした highway-env は自動運転研究向けの軽量シミュレータで、racetrack 環境がレース走行に一番近いものです。ただしデフォルト設定を詳しく見ると、ゲームのレースとはかなり違います。まず行動はステアリングのみで、速度は 0・5・10 の離散ターゲットから選ぶだけ。スロットルという概念がありません。観測は presence と on_road の2 チャネルだけで、周囲 18 m の対称視野。報酬は車線中央維持と操作量ペナルティが中心で、速く走る動機がありません。そして路外に出ても物理的な壁はなく、エピソードが終わるだけです。車両も既定ではタイヤスリップのない運動学モデルで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左が highway-env デフォルトの racetrack、右が我々の fast トラックです。形状も作り直し、S 字と 2 つのヘアピンを持たせて難所を意図的に作りました。しかし本質的な違いは形ではなく物理です。左はステアリングだけ・壁なし・10 m/s、右はスロットル制御・外周が物理壁・16 m/s で、壁に当たると停止しバックでしか脱出できません。この差を埋めるために行った変更を、これから順番に説明します。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最初の変更は行動空間です。ゲームの車はアクセルとブレーキを踏むので、ステアリング専用だったものを連続スロットル付きの 2 次元連続行動に変更し、加速度レンジは ±5 m/s²、ステアは ±30 度としました。車両モデルもタイヤスリップを持つ動的 Bicycle モデルに切り替えています。加速度レンジは実験で決めました。グラフの赤い破線が ±2.5 m/s² に絞った実験で、10 万ステップで 22 周までは学習できるものの巡航速度が 10 m/s に頭打ちし、終盤には退行しました。原因は制動距離です。16 m/s から 2.5 m/s² で止まるには 51 m 必要ですが、観測の前方視野は 27 m しかなく、「見えてから減速」が物理的に間に合いません。エンジン出力を絞りたい場合はブレーキだけ強い非対称レンジ [−5, +2.5] を推奨しています。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次に壁です。ここが一番試行錯誤した部分です。最初は壁がなく、路外に出たら終了するだけでした。これだとエージェントはコーナーを膨らんでショートカットする走りを覚えます。次に反発壁を入れましたが、今度は「壁に擦りながら曲がる」wall-riding が最速解になりました。壁が勝手に車の向きを変えてくれるので、ステアリングを学ぶ必要がなくなるんです。最終形は停止壁です。壁に当たると止まり、バックでしか脱出できない。さらに壁接触中は速度報酬をゼロにし、接触が 7 秒続いたらクラッシュ扱いで終了します。もう 1 つ重要なのは、壁はコース外周だけという点です。車線の白線を壁にすると2 車線を使ったライン取りができなくなります。この判定は最初閉じた車線単位で書いてしまい、白線が壁になるバグを踏みました。現在は「コリドー両端の車線の外側だけが壁」という実装です。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報酬設計です。グラフは実測した 1 ステップあたりの報酬で、状態ごとの「儲け」を示しています。設計の目標は、どんな抜け道よりも普通に走る方が得、という順序を作ることです。緑の 0.97 が正しく走った場合。壁でスタックしたら 0.45、壁に擦りながら進んでも 0.42 と、壁を使う行動は割に合いません。重要なのは青の 0.51、壁からバックで脱出する行動がスタックより明確に得なことです。実は最初、脱出報酬は壁に接触している間しか出ませんでした。すると脱出の一歩目、壁から 20 cm 離れた瞬間にバックのペナルティが復活してしまい、エージェントは「壁沿いを這う」ことを学びました。今は壁から 1 m の脱出ゾーンを設け、その中ではバック免除、壁から離れる距離に報酬を出します。もう 1 つの落とし穴が正規化です。合成報酬を [-3,3] から [0,1] に線形写像していますが、この範囲が実際の下限を覆っていないと、悪い状態が全部 0 に張り付いて「悪い」と「最悪」の区別が消え、学習が止まります。範囲の導出はコードにコメントで残し、重みを変えたら再導出するルールにしています。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観測はデフォルトの 2 チャネルから 10 チャネルに拡張しました。周囲車両の相対位置・相対速度、自車のレーンからの横ずれ lat_off と角度ずれ ang_off などです。追い越しと車線維持の両方に必要な情報です。視野も変えました。デフォルトは前後対称 ±18 m ですが、レースで重要なのは前方です。後方 9 m・前方 27 m の非対称にしました。27 m という数字は制動距離から来ています。16 m/s から 5 m/s² でフル制動すると 25.6 m。前方視野がこれより短いと、コーナーが見えてからでは止まれません。ぎりぎり収まるのが 27 m です。重要な注意として、自車の絶対座標は観測に含まれません。これによりコース暗記が不可能になり、反射的なレーン追従を学習せざるを得なくなります。これが 5 コース汎化の種明かしです。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コースも 1 つから 5 つに増やしました。oval と stadium が基礎、rect は 90 度コーナーの反復、chicane は左右の切り返しと最小半径 10 m のキンク、fast がメインの難コースです。config の track を random にするとエピソードごとに再抽選され、これが汎化学習になります。各トラックは C# 側にもプリセットと JSON で複製されていて、検証ハーネスがPython と C# の幾何が一致することを自動チェックします。トラックを追加するときはrace_env にビルダーを書き、C# プリセットを足し、JSON を再生成して検証を回す、という手順です。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学習は 2 フェーズの PPO です。フェーズ 1 で他車なしのレーン追従を覚え、フェーズ 2 で NPC を入れて学習率を下げ、追い越しをファインチューニングします。特徴抽出はカスタム CNN で、初期方策のスロットルバイアスを +0.4 にずらして序盤の探索が前に進むようにしています。ここでの教訓は fast-dev、つまり動作確認用の短縮設定です。以前はエントロピー係数 0.10 の 6.5 万ステップで、何度回しても曲がれるようになりませんでした。原因は、エントロピー報酬が『ランダムでい続けること』に支払われるため、報酬が [0,1] に圧縮された本環境では方策が確定するインセンティブに勝ってしまうことでした。現在は本番と同じ ent 0.02・lr 2e-4 のまま 12 万ステップに短縮し、『周回まで確実に到達する最小構成』としてエンドツーエンドで実測検証済みです。また PPO は学習終盤に退行することがあるため、最終モデルではなく EvalCallback のベストモデルを採用します。ノートブックには eval 報酬を周回数に換算するヤードスティックのセルを入れてあり、TensorBoard の数字だけで進捗判断ができます。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学習した方策をそのままゲームに載せると、シミュレータと実車の違いが問題になります。そのために C# 側に 4 つの支援クラスを用意しました。まず SteeringSmoother。方策は観測グリッドが 3 m 刻みで量子化されている影響で、直線でステアを細かく左右に振ります。デコード後のステア角に EMA をかけるだけで、符号反転が 100 ステップあたり 34 回から 12 回に減り、直線の中央維持もむしろ改善しました。次に CorneringLimiter。実車はハンドルを瞬時に切れないのでステア速度を制限し、曲率から計算した限界速度を超えたら超過量に比例した弱いブレーキをかけます。速度床があるので絶対に止まりません。StuckRecovery は移動距離ベースのスタック検出で、前進指示なのに 1 秒で 0.3 m も動けなければ壁に刺さっていると判断してバック指示を出します。発進時は動けるので誤発動しません。最後に CarController は学習時と同一のBicycle 動力学を C# に移植したもので、Python と 1e-7 で一致します。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使い方です。環境構築はスライドの 1 行だけです。注意点として、リポジトリ直下のrequirements.txt は旧 TensorFlow スタック用なので使わないでください。ノートブックは 2 つ。task2 が fast トラック専用、task3 がランダムトラックの汎化学習です。設定セルの FAST_DEV_RUN で短縮学習と本番を切り替えます。学習後は軌跡プロット、トラック別評価レポート、5 トラック並列動画、そして今回のスライドに使った図と動画を生成して保存するセルまで、すべてノートブック内にあります。C# ポートの検証は re_engine/verify で dotnet run するだけです。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デプロイ用のエクスポートは export_onnx.py です。モード 3 がエンジン用のchannels-last NHWC 版で、これが推奨です。C# の観測ビルダーは H×W×C の平坦配列を出力するため、channels-first 版のモデルに入れるとチャネルが混ざり、スロットル 0.4・ステア 0.2 程度のほぼ一定の出力に退化します。実際にこの症状で『モデルが曲がらない』というデバッグを経験したので、症状として覚えておいてください。トラックや観測の設定を変えたら、export_track_json.py で C# 側の正解データを再生成し、検証ハーネスを回します。加速度レンジなどの定数は C# 側に意図的に複製されているので、変更時は C# 定数、JSON 再生成、検証、ONNX 再エクスポートの 4 点セットを忘れずに。</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まとめます。highway-env のデフォルトはステアリングだけの車線追従環境でした。そこにスロットルと実車動力学、物理的な壁、速く走る報酬、前方に偏った視野を段階的に加え、壁擦りや壁這いといった抜け道をひとつずつ経済的に割に合わなくして、最終的に 6 万ステップで周回を学習する環境になりました。汎化は自己位置を見せないという観測設計から生まれ、C# 側は数値一致の検証で「移植したら挙動が変わった」を排除しています。今後は RE Engine 内での実走検証と、実車ダイナミクスへの適合が次のステップです。ご清聴ありがとうございました。</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microsoft.com/office/2007/relationships/media" Target="../media/media1.mp4"/><Relationship Id="rId5" Type="http://schemas.openxmlformats.org/officeDocument/2006/relationships/video" Target="../media/media1.mp4"/></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94560"/>
            <a:ext cx="10698480" cy="2377440"/>
          </a:xfrm>
          <a:prstGeom prst="rect">
            <a:avLst/>
          </a:prstGeom>
          <a:noFill/>
        </p:spPr>
        <p:txBody>
          <a:bodyPr wrap="none">
            <a:spAutoFit/>
          </a:bodyPr>
          <a:lstStyle/>
          <a:p>
            <a:r>
              <a:rPr sz="5400" b="1">
                <a:solidFill>
                  <a:srgbClr val="1B5EA8"/>
                </a:solidFill>
                <a:latin typeface="Meiryo"/>
              </a:rPr>
              <a:t>CircuitAgents</a:t>
            </a:r>
          </a:p>
          <a:p>
            <a:r>
              <a:rPr sz="2400">
                <a:solidFill>
                  <a:srgbClr val="222222"/>
                </a:solidFill>
                <a:latin typeface="Meiryo"/>
              </a:rPr>
              <a:t>強化学習によるサーキット走行エージェント — highway-env をゲーム環境へ進化させる</a:t>
            </a:r>
          </a:p>
          <a:p>
            <a:r>
              <a:rPr sz="1800">
                <a:solidFill>
                  <a:srgbClr val="595959"/>
                </a:solidFill>
                <a:latin typeface="Meiryo"/>
              </a:rPr>
              <a:t>環境設計の変遷・学習パイプライン・RE Engine (ONNX/C#) デプロイ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777240"/>
          </a:xfrm>
          <a:prstGeom prst="rect">
            <a:avLst/>
          </a:prstGeom>
          <a:noFill/>
        </p:spPr>
        <p:txBody>
          <a:bodyPr wrap="none">
            <a:spAutoFit/>
          </a:bodyPr>
          <a:lstStyle/>
          <a:p>
            <a:r>
              <a:rPr sz="2800" b="1">
                <a:solidFill>
                  <a:srgbClr val="1B5EA8"/>
                </a:solidFill>
                <a:latin typeface="Meiryo"/>
              </a:rPr>
              <a:t>まず結果から — 1 つの方策で 5 トラック同時走行</a:t>
            </a:r>
          </a:p>
        </p:txBody>
      </p:sp>
      <p:pic>
        <p:nvPicPr>
          <p:cNvPr id="3" name="Picture 2" descr="gen_tracks_grid.png"/>
          <p:cNvPicPr>
            <a:picLocks noChangeAspect="1"/>
          </p:cNvPicPr>
          <p:nvPr/>
        </p:nvPicPr>
        <p:blipFill>
          <a:blip r:embed="rId3"/>
          <a:stretch>
            <a:fillRect/>
          </a:stretch>
        </p:blipFill>
        <p:spPr>
          <a:xfrm>
            <a:off x="411480" y="1143000"/>
            <a:ext cx="11338560" cy="2789689"/>
          </a:xfrm>
          <a:prstGeom prst="rect">
            <a:avLst/>
          </a:prstGeom>
        </p:spPr>
      </p:pic>
      <p:pic>
        <p:nvPicPr>
          <p:cNvPr id="4" name="gen_all_tracks.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3"/>
          <a:stretch>
            <a:fillRect/>
          </a:stretch>
        </p:blipFill>
        <p:spPr>
          <a:xfrm>
            <a:off x="2651760" y="3977639"/>
            <a:ext cx="6858000" cy="20574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777240"/>
          </a:xfrm>
          <a:prstGeom prst="rect">
            <a:avLst/>
          </a:prstGeom>
          <a:noFill/>
        </p:spPr>
        <p:txBody>
          <a:bodyPr wrap="none">
            <a:spAutoFit/>
          </a:bodyPr>
          <a:lstStyle/>
          <a:p>
            <a:r>
              <a:rPr sz="2800" b="1">
                <a:solidFill>
                  <a:srgbClr val="1B5EA8"/>
                </a:solidFill>
                <a:latin typeface="Meiryo"/>
              </a:rPr>
              <a:t>学習曲線 — 周回能力は 3〜6 万ステップで立ち上がる</a:t>
            </a:r>
          </a:p>
        </p:txBody>
      </p:sp>
      <p:pic>
        <p:nvPicPr>
          <p:cNvPr id="3" name="Picture 2" descr="learning_curve.png"/>
          <p:cNvPicPr>
            <a:picLocks noChangeAspect="1"/>
          </p:cNvPicPr>
          <p:nvPr/>
        </p:nvPicPr>
        <p:blipFill>
          <a:blip r:embed="rId3"/>
          <a:stretch>
            <a:fillRect/>
          </a:stretch>
        </p:blipFill>
        <p:spPr>
          <a:xfrm>
            <a:off x="2468880" y="1234440"/>
            <a:ext cx="7315200" cy="4096512"/>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777240"/>
          </a:xfrm>
          <a:prstGeom prst="rect">
            <a:avLst/>
          </a:prstGeom>
          <a:noFill/>
        </p:spPr>
        <p:txBody>
          <a:bodyPr wrap="none">
            <a:spAutoFit/>
          </a:bodyPr>
          <a:lstStyle/>
          <a:p>
            <a:r>
              <a:rPr sz="2800" b="1">
                <a:solidFill>
                  <a:srgbClr val="1B5EA8"/>
                </a:solidFill>
                <a:latin typeface="Meiryo"/>
              </a:rPr>
              <a:t>走行軌跡 — 減速と立ち上がりの質</a:t>
            </a:r>
          </a:p>
        </p:txBody>
      </p:sp>
      <p:pic>
        <p:nvPicPr>
          <p:cNvPr id="3" name="Picture 2" descr="fastdev_trajectory.png"/>
          <p:cNvPicPr>
            <a:picLocks noChangeAspect="1"/>
          </p:cNvPicPr>
          <p:nvPr/>
        </p:nvPicPr>
        <p:blipFill>
          <a:blip r:embed="rId3"/>
          <a:stretch>
            <a:fillRect/>
          </a:stretch>
        </p:blipFill>
        <p:spPr>
          <a:xfrm>
            <a:off x="2834640" y="1188720"/>
            <a:ext cx="6583680" cy="438912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777240"/>
          </a:xfrm>
          <a:prstGeom prst="rect">
            <a:avLst/>
          </a:prstGeom>
          <a:noFill/>
        </p:spPr>
        <p:txBody>
          <a:bodyPr wrap="none">
            <a:spAutoFit/>
          </a:bodyPr>
          <a:lstStyle/>
          <a:p>
            <a:r>
              <a:rPr sz="2800" b="1">
                <a:solidFill>
                  <a:srgbClr val="1B5EA8"/>
                </a:solidFill>
                <a:latin typeface="Meiryo"/>
              </a:rPr>
              <a:t>結果サマリ (すべて実測値)</a:t>
            </a:r>
          </a:p>
        </p:txBody>
      </p:sp>
      <p:sp>
        <p:nvSpPr>
          <p:cNvPr id="3" name="TextBox 2"/>
          <p:cNvSpPr txBox="1"/>
          <p:nvPr/>
        </p:nvSpPr>
        <p:spPr>
          <a:xfrm>
            <a:off x="548640" y="1325880"/>
            <a:ext cx="11064240" cy="5394960"/>
          </a:xfrm>
          <a:prstGeom prst="rect">
            <a:avLst/>
          </a:prstGeom>
          <a:noFill/>
        </p:spPr>
        <p:txBody>
          <a:bodyPr wrap="square">
            <a:spAutoFit/>
          </a:bodyPr>
          <a:lstStyle/>
          <a:p>
            <a:pPr>
              <a:spcAft>
                <a:spcPts val="500"/>
              </a:spcAft>
            </a:pPr>
            <a:r>
              <a:rPr sz="1900" b="1">
                <a:solidFill>
                  <a:srgbClr val="222222"/>
                </a:solidFill>
                <a:latin typeface="Meiryo"/>
              </a:rPr>
              <a:t>fast トラック: 37 周 / 800 秒・16 m/s (制限速度)・無衝突</a:t>
            </a:r>
          </a:p>
          <a:p>
            <a:pPr>
              <a:spcAft>
                <a:spcPts val="500"/>
              </a:spcAft>
            </a:pPr>
            <a:r>
              <a:rPr sz="1900" b="0">
                <a:solidFill>
                  <a:srgbClr val="222222"/>
                </a:solidFill>
                <a:latin typeface="Meiryo"/>
              </a:rPr>
              <a:t>周回能力の獲得: 3〜6 万ステップ (6 万で 32 周 → 9 万で 36 周)</a:t>
            </a:r>
          </a:p>
          <a:p>
            <a:pPr>
              <a:spcAft>
                <a:spcPts val="500"/>
              </a:spcAft>
            </a:pPr>
            <a:r>
              <a:rPr sz="1900" b="0">
                <a:solidFill>
                  <a:srgbClr val="222222"/>
                </a:solidFill>
                <a:latin typeface="Meiryo"/>
              </a:rPr>
              <a:t>fast-dev (12 万, 本番ハイパラ): フェーズ 2 (NPC あり lr 3e-4) 込みで 37 周 — 退行なし</a:t>
            </a:r>
          </a:p>
          <a:p>
            <a:pPr>
              <a:spcAft>
                <a:spcPts val="500"/>
              </a:spcAft>
            </a:pPr>
            <a:r>
              <a:rPr sz="1900" b="1">
                <a:solidFill>
                  <a:srgbClr val="222222"/>
                </a:solidFill>
                <a:latin typeface="Meiryo"/>
              </a:rPr>
              <a:t>汎化モデル (random 学習 15 万): 5 トラックすべて 2 分間ノーミス・平均 15.7 m/s</a:t>
            </a:r>
          </a:p>
          <a:p>
            <a:pPr>
              <a:spcAft>
                <a:spcPts val="500"/>
              </a:spcAft>
            </a:pPr>
            <a:r>
              <a:rPr sz="1900" b="0">
                <a:solidFill>
                  <a:srgbClr val="222222"/>
                </a:solidFill>
                <a:latin typeface="Meiryo"/>
              </a:rPr>
              <a:t>ゼロショット転移: fast 専用モデルも他 4 コースを制限速度で走行 (自己位置非観測が鍵)</a:t>
            </a:r>
          </a:p>
          <a:p>
            <a:pPr>
              <a:spcAft>
                <a:spcPts val="500"/>
              </a:spcAft>
            </a:pPr>
            <a:r>
              <a:rPr sz="1900" b="1">
                <a:solidFill>
                  <a:srgbClr val="222222"/>
                </a:solidFill>
                <a:latin typeface="Meiryo"/>
              </a:rPr>
              <a:t>C# デプロイ: 観測ビット一致 (maxDiff=0.0) + 車両物理 1e-7 一致 — 検証ハーネスで自動確認</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777240"/>
          </a:xfrm>
          <a:prstGeom prst="rect">
            <a:avLst/>
          </a:prstGeom>
          <a:noFill/>
        </p:spPr>
        <p:txBody>
          <a:bodyPr wrap="none">
            <a:spAutoFit/>
          </a:bodyPr>
          <a:lstStyle/>
          <a:p>
            <a:r>
              <a:rPr sz="2800" b="1">
                <a:solidFill>
                  <a:srgbClr val="1B5EA8"/>
                </a:solidFill>
                <a:latin typeface="Meiryo"/>
              </a:rPr>
              <a:t>ベースライン: highway-env の racetrack 環境 (デフォルト設定)</a:t>
            </a:r>
          </a:p>
        </p:txBody>
      </p:sp>
      <p:sp>
        <p:nvSpPr>
          <p:cNvPr id="3" name="TextBox 2"/>
          <p:cNvSpPr txBox="1"/>
          <p:nvPr/>
        </p:nvSpPr>
        <p:spPr>
          <a:xfrm>
            <a:off x="548640" y="1280160"/>
            <a:ext cx="11064240" cy="5394960"/>
          </a:xfrm>
          <a:prstGeom prst="rect">
            <a:avLst/>
          </a:prstGeom>
          <a:noFill/>
        </p:spPr>
        <p:txBody>
          <a:bodyPr wrap="square">
            <a:spAutoFit/>
          </a:bodyPr>
          <a:lstStyle/>
          <a:p>
            <a:pPr>
              <a:spcAft>
                <a:spcPts val="500"/>
              </a:spcAft>
            </a:pPr>
            <a:r>
              <a:rPr sz="1700" b="1">
                <a:solidFill>
                  <a:srgbClr val="222222"/>
                </a:solidFill>
                <a:latin typeface="Meiryo"/>
              </a:rPr>
              <a:t>行動: ステアリングのみ (longitudinal=False)。速度は離散 target_speeds [0, 5, 10] から選択</a:t>
            </a:r>
          </a:p>
          <a:p>
            <a:pPr>
              <a:spcAft>
                <a:spcPts val="500"/>
              </a:spcAft>
            </a:pPr>
            <a:r>
              <a:rPr sz="1700" b="1">
                <a:solidFill>
                  <a:srgbClr val="222222"/>
                </a:solidFill>
                <a:latin typeface="Meiryo"/>
              </a:rPr>
              <a:t>観測: OccupancyGrid 2ch (presence / on_road) のみ、±18 m の対称視野</a:t>
            </a:r>
          </a:p>
          <a:p>
            <a:pPr>
              <a:spcAft>
                <a:spcPts val="500"/>
              </a:spcAft>
            </a:pPr>
            <a:r>
              <a:rPr sz="1700" b="1">
                <a:solidFill>
                  <a:srgbClr val="222222"/>
                </a:solidFill>
                <a:latin typeface="Meiryo"/>
              </a:rPr>
              <a:t>報酬: 車線中央維持 1/(1+4·lat²) + 操作量ペナルティ −0.3·|action| + 衝突 −1</a:t>
            </a:r>
          </a:p>
          <a:p>
            <a:pPr>
              <a:spcAft>
                <a:spcPts val="500"/>
              </a:spcAft>
            </a:pPr>
            <a:r>
              <a:rPr sz="1700" b="0">
                <a:solidFill>
                  <a:srgbClr val="222222"/>
                </a:solidFill>
                <a:latin typeface="Meiryo"/>
              </a:rPr>
              <a:t>速度: speed_limit 10 m/s。「速く走る」インセンティブが存在しない</a:t>
            </a:r>
          </a:p>
          <a:p>
            <a:pPr>
              <a:spcAft>
                <a:spcPts val="500"/>
              </a:spcAft>
            </a:pPr>
            <a:r>
              <a:rPr sz="1700" b="1">
                <a:solidFill>
                  <a:srgbClr val="222222"/>
                </a:solidFill>
                <a:latin typeface="Meiryo"/>
              </a:rPr>
              <a:t>壁: 存在しない — 路外は終了 (または放置)。すり抜け・ショートカットが物理的に可能</a:t>
            </a:r>
          </a:p>
          <a:p>
            <a:pPr>
              <a:spcAft>
                <a:spcPts val="500"/>
              </a:spcAft>
            </a:pPr>
            <a:r>
              <a:rPr sz="1700" b="0">
                <a:solidFill>
                  <a:srgbClr val="222222"/>
                </a:solidFill>
                <a:latin typeface="Meiryo"/>
              </a:rPr>
              <a:t>車両: 運動学 Bicycle (スリップなし)。NPC 1 台、エピソード 300 秒</a:t>
            </a:r>
          </a:p>
          <a:p>
            <a:pPr>
              <a:spcAft>
                <a:spcPts val="500"/>
              </a:spcAft>
            </a:pPr>
            <a:r>
              <a:rPr sz="1700" b="1">
                <a:solidFill>
                  <a:srgbClr val="B32D2D"/>
                </a:solidFill>
                <a:latin typeface="Meiryo"/>
              </a:rPr>
              <a:t>→ 「レーンをなぞる」研究環境としては優秀。しかしゲームのレースには遠い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777240"/>
          </a:xfrm>
          <a:prstGeom prst="rect">
            <a:avLst/>
          </a:prstGeom>
          <a:noFill/>
        </p:spPr>
        <p:txBody>
          <a:bodyPr wrap="none">
            <a:spAutoFit/>
          </a:bodyPr>
          <a:lstStyle/>
          <a:p>
            <a:r>
              <a:rPr sz="2800" b="1">
                <a:solidFill>
                  <a:srgbClr val="1B5EA8"/>
                </a:solidFill>
                <a:latin typeface="Meiryo"/>
              </a:rPr>
              <a:t>デフォルト racetrack と本プロジェクトの fast トラック</a:t>
            </a:r>
          </a:p>
        </p:txBody>
      </p:sp>
      <p:pic>
        <p:nvPicPr>
          <p:cNvPr id="3" name="Picture 2" descr="default_vs_ours.png"/>
          <p:cNvPicPr>
            <a:picLocks noChangeAspect="1"/>
          </p:cNvPicPr>
          <p:nvPr/>
        </p:nvPicPr>
        <p:blipFill>
          <a:blip r:embed="rId3"/>
          <a:stretch>
            <a:fillRect/>
          </a:stretch>
        </p:blipFill>
        <p:spPr>
          <a:xfrm>
            <a:off x="822960" y="1371600"/>
            <a:ext cx="10515600" cy="3720905"/>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777240"/>
          </a:xfrm>
          <a:prstGeom prst="rect">
            <a:avLst/>
          </a:prstGeom>
          <a:noFill/>
        </p:spPr>
        <p:txBody>
          <a:bodyPr wrap="none">
            <a:spAutoFit/>
          </a:bodyPr>
          <a:lstStyle/>
          <a:p>
            <a:r>
              <a:rPr sz="2800" b="1">
                <a:solidFill>
                  <a:srgbClr val="1B5EA8"/>
                </a:solidFill>
                <a:latin typeface="Meiryo"/>
              </a:rPr>
              <a:t>進化 (1) 行動と車両 — スロットルを持たせ、実車に近づける</a:t>
            </a:r>
          </a:p>
        </p:txBody>
      </p:sp>
      <p:sp>
        <p:nvSpPr>
          <p:cNvPr id="3" name="TextBox 2"/>
          <p:cNvSpPr txBox="1"/>
          <p:nvPr/>
        </p:nvSpPr>
        <p:spPr>
          <a:xfrm>
            <a:off x="548640" y="1097280"/>
            <a:ext cx="11064240" cy="5394960"/>
          </a:xfrm>
          <a:prstGeom prst="rect">
            <a:avLst/>
          </a:prstGeom>
          <a:noFill/>
        </p:spPr>
        <p:txBody>
          <a:bodyPr wrap="square">
            <a:spAutoFit/>
          </a:bodyPr>
          <a:lstStyle/>
          <a:p>
            <a:pPr>
              <a:spcAft>
                <a:spcPts val="500"/>
              </a:spcAft>
            </a:pPr>
            <a:r>
              <a:rPr sz="1600" b="1">
                <a:solidFill>
                  <a:srgbClr val="222222"/>
                </a:solidFill>
                <a:latin typeface="Meiryo"/>
              </a:rPr>
              <a:t>ContinuousAction: ステアのみ → スロットル + ステア (±5 m/s², ±π/6)、dynamical=True</a:t>
            </a:r>
          </a:p>
          <a:p>
            <a:pPr>
              <a:spcAft>
                <a:spcPts val="500"/>
              </a:spcAft>
            </a:pPr>
            <a:r>
              <a:rPr sz="1600" b="0">
                <a:solidFill>
                  <a:srgbClr val="222222"/>
                </a:solidFill>
                <a:latin typeface="Meiryo"/>
              </a:rPr>
              <a:t>速度上限 10 → 16 m/s、前進報酬を追加 — 「速く走る」動機を導入</a:t>
            </a:r>
          </a:p>
        </p:txBody>
      </p:sp>
      <p:pic>
        <p:nvPicPr>
          <p:cNvPr id="4" name="Picture 3" descr="range_experiment.png"/>
          <p:cNvPicPr>
            <a:picLocks noChangeAspect="1"/>
          </p:cNvPicPr>
          <p:nvPr/>
        </p:nvPicPr>
        <p:blipFill>
          <a:blip r:embed="rId3"/>
          <a:stretch>
            <a:fillRect/>
          </a:stretch>
        </p:blipFill>
        <p:spPr>
          <a:xfrm>
            <a:off x="3017520" y="2286000"/>
            <a:ext cx="6217920" cy="331622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777240"/>
          </a:xfrm>
          <a:prstGeom prst="rect">
            <a:avLst/>
          </a:prstGeom>
          <a:noFill/>
        </p:spPr>
        <p:txBody>
          <a:bodyPr wrap="none">
            <a:spAutoFit/>
          </a:bodyPr>
          <a:lstStyle/>
          <a:p>
            <a:r>
              <a:rPr sz="2800" b="1">
                <a:solidFill>
                  <a:srgbClr val="1B5EA8"/>
                </a:solidFill>
                <a:latin typeface="Meiryo"/>
              </a:rPr>
              <a:t>進化 (2) 壁の物理 — 「なし → 反発 → 停止」の変遷</a:t>
            </a:r>
          </a:p>
        </p:txBody>
      </p:sp>
      <p:sp>
        <p:nvSpPr>
          <p:cNvPr id="3" name="TextBox 2"/>
          <p:cNvSpPr txBox="1"/>
          <p:nvPr/>
        </p:nvSpPr>
        <p:spPr>
          <a:xfrm>
            <a:off x="548640" y="1234440"/>
            <a:ext cx="11064240" cy="5394960"/>
          </a:xfrm>
          <a:prstGeom prst="rect">
            <a:avLst/>
          </a:prstGeom>
          <a:noFill/>
        </p:spPr>
        <p:txBody>
          <a:bodyPr wrap="square">
            <a:spAutoFit/>
          </a:bodyPr>
          <a:lstStyle/>
          <a:p>
            <a:pPr>
              <a:spcAft>
                <a:spcPts val="500"/>
              </a:spcAft>
            </a:pPr>
            <a:r>
              <a:rPr sz="1700" b="0">
                <a:solidFill>
                  <a:srgbClr val="222222"/>
                </a:solidFill>
                <a:latin typeface="Meiryo"/>
              </a:rPr>
              <a:t>v0: 壁なし (デフォルト) → コーナーを路外ショートカットする走りを学習</a:t>
            </a:r>
          </a:p>
          <a:p>
            <a:pPr>
              <a:spcAft>
                <a:spcPts val="500"/>
              </a:spcAft>
            </a:pPr>
            <a:r>
              <a:rPr sz="1700" b="0">
                <a:solidFill>
                  <a:srgbClr val="B32D2D"/>
                </a:solidFill>
                <a:latin typeface="Meiryo"/>
              </a:rPr>
              <a:t>v1: 反発壁 (bounce) → 壁に擦って曲がる wall-riding が最速解に</a:t>
            </a:r>
          </a:p>
          <a:p>
            <a:pPr>
              <a:spcAft>
                <a:spcPts val="500"/>
              </a:spcAft>
            </a:pPr>
            <a:r>
              <a:rPr sz="1700" b="1">
                <a:solidFill>
                  <a:srgbClr val="222222"/>
                </a:solidFill>
                <a:latin typeface="Meiryo"/>
              </a:rPr>
              <a:t>v2 (最終): 停止壁 (stop) + 壁接触中は速度報酬ゼロ + 接触 35 ステップで終了</a:t>
            </a:r>
          </a:p>
          <a:p>
            <a:pPr>
              <a:spcAft>
                <a:spcPts val="500"/>
              </a:spcAft>
            </a:pPr>
            <a:r>
              <a:rPr sz="1700" b="1">
                <a:solidFill>
                  <a:srgbClr val="222222"/>
                </a:solidFill>
                <a:latin typeface="Meiryo"/>
              </a:rPr>
              <a:t>壁 = コース外周のみ。車線境界の白線は壁ではない (2 車線を使うライン取りを許す)</a:t>
            </a:r>
          </a:p>
          <a:p>
            <a:pPr lvl="1">
              <a:spcAft>
                <a:spcPts val="500"/>
              </a:spcAft>
            </a:pPr>
            <a:r>
              <a:rPr sz="1500" b="0">
                <a:solidFill>
                  <a:srgbClr val="595959"/>
                </a:solidFill>
                <a:latin typeface="Meiryo"/>
              </a:rPr>
              <a:t>目的: ゲームの物理と一致 + 「壁を使う」抜け道をすべて塞ぐ</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777240"/>
          </a:xfrm>
          <a:prstGeom prst="rect">
            <a:avLst/>
          </a:prstGeom>
          <a:noFill/>
        </p:spPr>
        <p:txBody>
          <a:bodyPr wrap="none">
            <a:spAutoFit/>
          </a:bodyPr>
          <a:lstStyle/>
          <a:p>
            <a:r>
              <a:rPr sz="2800" b="1">
                <a:solidFill>
                  <a:srgbClr val="1B5EA8"/>
                </a:solidFill>
                <a:latin typeface="Meiryo"/>
              </a:rPr>
              <a:t>進化 (3) 報酬の経済設計 — 抜け道より運転が得になるまで</a:t>
            </a:r>
          </a:p>
        </p:txBody>
      </p:sp>
      <p:pic>
        <p:nvPicPr>
          <p:cNvPr id="3" name="Picture 2" descr="reward_economics.png"/>
          <p:cNvPicPr>
            <a:picLocks noChangeAspect="1"/>
          </p:cNvPicPr>
          <p:nvPr/>
        </p:nvPicPr>
        <p:blipFill>
          <a:blip r:embed="rId3"/>
          <a:stretch>
            <a:fillRect/>
          </a:stretch>
        </p:blipFill>
        <p:spPr>
          <a:xfrm>
            <a:off x="640080" y="1188720"/>
            <a:ext cx="6766560" cy="3304599"/>
          </a:xfrm>
          <a:prstGeom prst="rect">
            <a:avLst/>
          </a:prstGeom>
        </p:spPr>
      </p:pic>
      <p:sp>
        <p:nvSpPr>
          <p:cNvPr id="4" name="TextBox 3"/>
          <p:cNvSpPr txBox="1"/>
          <p:nvPr/>
        </p:nvSpPr>
        <p:spPr>
          <a:xfrm>
            <a:off x="7589520" y="1371600"/>
            <a:ext cx="4206240" cy="5394960"/>
          </a:xfrm>
          <a:prstGeom prst="rect">
            <a:avLst/>
          </a:prstGeom>
          <a:noFill/>
        </p:spPr>
        <p:txBody>
          <a:bodyPr wrap="square">
            <a:spAutoFit/>
          </a:bodyPr>
          <a:lstStyle/>
          <a:p>
            <a:pPr>
              <a:spcAft>
                <a:spcPts val="500"/>
              </a:spcAft>
            </a:pPr>
            <a:r>
              <a:rPr sz="1400" b="1">
                <a:solidFill>
                  <a:srgbClr val="222222"/>
                </a:solidFill>
                <a:latin typeface="Meiryo"/>
              </a:rPr>
              <a:t>目標: 運転 &gt; 脱出 &gt; 停滞 &gt; 壁擦り の順序</a:t>
            </a:r>
          </a:p>
          <a:p>
            <a:pPr>
              <a:spcAft>
                <a:spcPts val="500"/>
              </a:spcAft>
            </a:pPr>
            <a:r>
              <a:rPr sz="1400" b="0">
                <a:solidFill>
                  <a:srgbClr val="222222"/>
                </a:solidFill>
                <a:latin typeface="Meiryo"/>
              </a:rPr>
              <a:t>脱出ゾーン (壁 1 m): バック免除 +</a:t>
            </a:r>
          </a:p>
          <a:p>
            <a:pPr lvl="1">
              <a:spcAft>
                <a:spcPts val="500"/>
              </a:spcAft>
            </a:pPr>
            <a:r>
              <a:rPr sz="1200" b="0">
                <a:solidFill>
                  <a:srgbClr val="595959"/>
                </a:solidFill>
                <a:latin typeface="Meiryo"/>
              </a:rPr>
              <a:t>  距離増加に報酬 — 「壁を這う」局所解を排除</a:t>
            </a:r>
          </a:p>
          <a:p>
            <a:pPr>
              <a:spcAft>
                <a:spcPts val="500"/>
              </a:spcAft>
            </a:pPr>
            <a:r>
              <a:rPr sz="1400" b="0">
                <a:solidFill>
                  <a:srgbClr val="222222"/>
                </a:solidFill>
                <a:latin typeface="Meiryo"/>
              </a:rPr>
              <a:t>lmap [-3,3]→[0,1]: 範囲が下限を覆わないと</a:t>
            </a:r>
          </a:p>
          <a:p>
            <a:pPr lvl="1">
              <a:spcAft>
                <a:spcPts val="500"/>
              </a:spcAft>
            </a:pPr>
            <a:r>
              <a:rPr sz="1200" b="0">
                <a:solidFill>
                  <a:srgbClr val="595959"/>
                </a:solidFill>
                <a:latin typeface="Meiryo"/>
              </a:rPr>
              <a:t>  勾配消失 (導出をコメントで管理)</a:t>
            </a:r>
          </a:p>
          <a:p>
            <a:pPr>
              <a:spcAft>
                <a:spcPts val="500"/>
              </a:spcAft>
            </a:pPr>
            <a:r>
              <a:rPr sz="1400" b="0">
                <a:solidFill>
                  <a:srgbClr val="222222"/>
                </a:solidFill>
                <a:latin typeface="Meiryo"/>
              </a:rPr>
              <a:t>チェックポイント/ラップボーナスは生単位で加算</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777240"/>
          </a:xfrm>
          <a:prstGeom prst="rect">
            <a:avLst/>
          </a:prstGeom>
          <a:noFill/>
        </p:spPr>
        <p:txBody>
          <a:bodyPr wrap="none">
            <a:spAutoFit/>
          </a:bodyPr>
          <a:lstStyle/>
          <a:p>
            <a:r>
              <a:rPr sz="2800" b="1">
                <a:solidFill>
                  <a:srgbClr val="1B5EA8"/>
                </a:solidFill>
                <a:latin typeface="Meiryo"/>
              </a:rPr>
              <a:t>進化 (4) 観測 — 2ch から 10ch へ、前方に偏った視野へ</a:t>
            </a:r>
          </a:p>
        </p:txBody>
      </p:sp>
      <p:sp>
        <p:nvSpPr>
          <p:cNvPr id="3" name="TextBox 2"/>
          <p:cNvSpPr txBox="1"/>
          <p:nvPr/>
        </p:nvSpPr>
        <p:spPr>
          <a:xfrm>
            <a:off x="548640" y="1325880"/>
            <a:ext cx="11064240" cy="5394960"/>
          </a:xfrm>
          <a:prstGeom prst="rect">
            <a:avLst/>
          </a:prstGeom>
          <a:noFill/>
        </p:spPr>
        <p:txBody>
          <a:bodyPr wrap="square">
            <a:spAutoFit/>
          </a:bodyPr>
          <a:lstStyle/>
          <a:p>
            <a:pPr>
              <a:spcAft>
                <a:spcPts val="500"/>
              </a:spcAft>
            </a:pPr>
            <a:r>
              <a:rPr sz="1700" b="1">
                <a:solidFill>
                  <a:srgbClr val="222222"/>
                </a:solidFill>
                <a:latin typeface="Meiryo"/>
              </a:rPr>
              <a:t>2ch (presence/on_road) → 10ch: + 相対位置 x,y / 相対速度 vx,vy / 向き cos_h,sin_h / lat_off / ang_off</a:t>
            </a:r>
          </a:p>
          <a:p>
            <a:pPr>
              <a:spcAft>
                <a:spcPts val="500"/>
              </a:spcAft>
            </a:pPr>
            <a:r>
              <a:rPr sz="1700" b="1">
                <a:solidFill>
                  <a:srgbClr val="222222"/>
                </a:solidFill>
                <a:latin typeface="Meiryo"/>
              </a:rPr>
              <a:t>視野: ±18 m 対称 → 前方 27 m / 後方 9 m の非対称 (12×12 セル, 3 m 刻み)</a:t>
            </a:r>
          </a:p>
          <a:p>
            <a:pPr lvl="1">
              <a:spcAft>
                <a:spcPts val="500"/>
              </a:spcAft>
            </a:pPr>
            <a:r>
              <a:rPr sz="1500" b="0">
                <a:solidFill>
                  <a:srgbClr val="595959"/>
                </a:solidFill>
                <a:latin typeface="Meiryo"/>
              </a:rPr>
              <a:t>根拠: 制動距離 16 m/s ÷ 5 m/s² = 25.6 m &lt; 27 m — 「見えてから止まれる」最小視野</a:t>
            </a:r>
          </a:p>
          <a:p>
            <a:pPr>
              <a:spcAft>
                <a:spcPts val="500"/>
              </a:spcAft>
            </a:pPr>
            <a:r>
              <a:rPr sz="1700" b="1">
                <a:solidFill>
                  <a:srgbClr val="222222"/>
                </a:solidFill>
                <a:latin typeface="Meiryo"/>
              </a:rPr>
              <a:t>自車の絶対座標は観測に含まない → コース暗記が不可能 → 汎化の鍵</a:t>
            </a:r>
          </a:p>
          <a:p>
            <a:pPr>
              <a:spcAft>
                <a:spcPts val="500"/>
              </a:spcAft>
            </a:pPr>
            <a:r>
              <a:rPr sz="1700" b="0">
                <a:solidFill>
                  <a:srgbClr val="222222"/>
                </a:solidFill>
                <a:latin typeface="Meiryo"/>
              </a:rPr>
              <a:t>on_road はレーン中心線のトレース (塗りつぶしマスクではない) — C# 移植時の要注意点</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777240"/>
          </a:xfrm>
          <a:prstGeom prst="rect">
            <a:avLst/>
          </a:prstGeom>
          <a:noFill/>
        </p:spPr>
        <p:txBody>
          <a:bodyPr wrap="none">
            <a:spAutoFit/>
          </a:bodyPr>
          <a:lstStyle/>
          <a:p>
            <a:r>
              <a:rPr sz="2800" b="1">
                <a:solidFill>
                  <a:srgbClr val="1B5EA8"/>
                </a:solidFill>
                <a:latin typeface="Meiryo"/>
              </a:rPr>
              <a:t>進化 (5) トラックを 1 → 5 種に — 汎化学習</a:t>
            </a:r>
          </a:p>
        </p:txBody>
      </p:sp>
      <p:pic>
        <p:nvPicPr>
          <p:cNvPr id="3" name="Picture 2" descr="track_shapes.png"/>
          <p:cNvPicPr>
            <a:picLocks noChangeAspect="1"/>
          </p:cNvPicPr>
          <p:nvPr/>
        </p:nvPicPr>
        <p:blipFill>
          <a:blip r:embed="rId3"/>
          <a:stretch>
            <a:fillRect/>
          </a:stretch>
        </p:blipFill>
        <p:spPr>
          <a:xfrm>
            <a:off x="411480" y="1554480"/>
            <a:ext cx="11338560" cy="2267712"/>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777240"/>
          </a:xfrm>
          <a:prstGeom prst="rect">
            <a:avLst/>
          </a:prstGeom>
          <a:noFill/>
        </p:spPr>
        <p:txBody>
          <a:bodyPr wrap="none">
            <a:spAutoFit/>
          </a:bodyPr>
          <a:lstStyle/>
          <a:p>
            <a:r>
              <a:rPr sz="2800" b="1">
                <a:solidFill>
                  <a:srgbClr val="1B5EA8"/>
                </a:solidFill>
                <a:latin typeface="Meiryo"/>
              </a:rPr>
              <a:t>学習パイプライン — 2 フェーズ PPO と fast-dev の教訓</a:t>
            </a:r>
          </a:p>
        </p:txBody>
      </p:sp>
      <p:sp>
        <p:nvSpPr>
          <p:cNvPr id="3" name="TextBox 2"/>
          <p:cNvSpPr txBox="1"/>
          <p:nvPr/>
        </p:nvSpPr>
        <p:spPr>
          <a:xfrm>
            <a:off x="548640" y="1280160"/>
            <a:ext cx="11064240" cy="5394960"/>
          </a:xfrm>
          <a:prstGeom prst="rect">
            <a:avLst/>
          </a:prstGeom>
          <a:noFill/>
        </p:spPr>
        <p:txBody>
          <a:bodyPr wrap="square">
            <a:spAutoFit/>
          </a:bodyPr>
          <a:lstStyle/>
          <a:p>
            <a:pPr>
              <a:spcAft>
                <a:spcPts val="500"/>
              </a:spcAft>
            </a:pPr>
            <a:r>
              <a:rPr sz="1700" b="1">
                <a:solidFill>
                  <a:srgbClr val="222222"/>
                </a:solidFill>
                <a:latin typeface="Meiryo"/>
              </a:rPr>
              <a:t>2 フェーズ PPO: ①NPC なしレーン追従 (120k〜1M) → ②NPC あり追い越し FT (lr 減)</a:t>
            </a:r>
          </a:p>
          <a:p>
            <a:pPr>
              <a:spcAft>
                <a:spcPts val="500"/>
              </a:spcAft>
            </a:pPr>
            <a:r>
              <a:rPr sz="1700" b="0">
                <a:solidFill>
                  <a:srgbClr val="222222"/>
                </a:solidFill>
                <a:latin typeface="Meiryo"/>
              </a:rPr>
              <a:t>カスタム CNN (10ch→512) + 初期スロットルバイアス +0.4 (前進探索)</a:t>
            </a:r>
          </a:p>
          <a:p>
            <a:pPr>
              <a:spcAft>
                <a:spcPts val="500"/>
              </a:spcAft>
            </a:pPr>
            <a:r>
              <a:rPr sz="1700" b="1">
                <a:solidFill>
                  <a:srgbClr val="222222"/>
                </a:solidFill>
                <a:latin typeface="Meiryo"/>
              </a:rPr>
              <a:t>fast-dev の進化: 65k @ ent 0.10 (曲がれない) → 120k @ ent 0.02 本番ハイパラ (37 周)</a:t>
            </a:r>
          </a:p>
          <a:p>
            <a:pPr lvl="1">
              <a:spcAft>
                <a:spcPts val="500"/>
              </a:spcAft>
            </a:pPr>
            <a:r>
              <a:rPr sz="1500" b="0">
                <a:solidFill>
                  <a:srgbClr val="B32D2D"/>
                </a:solidFill>
                <a:latin typeface="Meiryo"/>
              </a:rPr>
              <a:t>  教訓: 高エントロピーは [0,1] 圧縮報酬下で「ランダムでいる」ことが得になる</a:t>
            </a:r>
          </a:p>
          <a:p>
            <a:pPr>
              <a:spcAft>
                <a:spcPts val="500"/>
              </a:spcAft>
            </a:pPr>
            <a:r>
              <a:rPr sz="1700" b="0">
                <a:solidFill>
                  <a:srgbClr val="222222"/>
                </a:solidFill>
                <a:latin typeface="Meiryo"/>
              </a:rPr>
              <a:t>EvalCallback ベストモデル採用 (PPO は終盤退行あり) — best/phase1|phase2/</a:t>
            </a:r>
          </a:p>
          <a:p>
            <a:pPr>
              <a:spcAft>
                <a:spcPts val="500"/>
              </a:spcAft>
            </a:pPr>
            <a:r>
              <a:rPr sz="1700" b="0">
                <a:solidFill>
                  <a:srgbClr val="222222"/>
                </a:solidFill>
                <a:latin typeface="Meiryo"/>
              </a:rPr>
              <a:t>Reward yardstick: 1 周 ≈ 101, アイドル床 ≈ 0.53/step — eval 値を周回数として読む</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777240"/>
          </a:xfrm>
          <a:prstGeom prst="rect">
            <a:avLst/>
          </a:prstGeom>
          <a:noFill/>
        </p:spPr>
        <p:txBody>
          <a:bodyPr wrap="none">
            <a:spAutoFit/>
          </a:bodyPr>
          <a:lstStyle/>
          <a:p>
            <a:r>
              <a:rPr sz="2800" b="1">
                <a:solidFill>
                  <a:srgbClr val="1B5EA8"/>
                </a:solidFill>
                <a:latin typeface="Meiryo"/>
              </a:rPr>
              <a:t>実ゲームとのギャップを埋める C# 支援クラス</a:t>
            </a:r>
          </a:p>
        </p:txBody>
      </p:sp>
      <p:pic>
        <p:nvPicPr>
          <p:cNvPr id="3" name="Picture 2" descr="smoothing_effect.png"/>
          <p:cNvPicPr>
            <a:picLocks noChangeAspect="1"/>
          </p:cNvPicPr>
          <p:nvPr/>
        </p:nvPicPr>
        <p:blipFill>
          <a:blip r:embed="rId3"/>
          <a:stretch>
            <a:fillRect/>
          </a:stretch>
        </p:blipFill>
        <p:spPr>
          <a:xfrm>
            <a:off x="640080" y="1234440"/>
            <a:ext cx="6035040" cy="2084832"/>
          </a:xfrm>
          <a:prstGeom prst="rect">
            <a:avLst/>
          </a:prstGeom>
        </p:spPr>
      </p:pic>
      <p:sp>
        <p:nvSpPr>
          <p:cNvPr id="4" name="TextBox 3"/>
          <p:cNvSpPr txBox="1"/>
          <p:nvPr/>
        </p:nvSpPr>
        <p:spPr>
          <a:xfrm>
            <a:off x="6858000" y="1371600"/>
            <a:ext cx="4937760" cy="5394960"/>
          </a:xfrm>
          <a:prstGeom prst="rect">
            <a:avLst/>
          </a:prstGeom>
          <a:noFill/>
        </p:spPr>
        <p:txBody>
          <a:bodyPr wrap="square">
            <a:spAutoFit/>
          </a:bodyPr>
          <a:lstStyle/>
          <a:p>
            <a:pPr>
              <a:spcAft>
                <a:spcPts val="500"/>
              </a:spcAft>
            </a:pPr>
            <a:r>
              <a:rPr sz="1400" b="1">
                <a:solidFill>
                  <a:srgbClr val="222222"/>
                </a:solidFill>
                <a:latin typeface="Meiryo"/>
              </a:rPr>
              <a:t>SteeringSmoother: EMA α0.6 — 蛇行 34→12 回/100步</a:t>
            </a:r>
          </a:p>
          <a:p>
            <a:pPr>
              <a:spcAft>
                <a:spcPts val="500"/>
              </a:spcAft>
            </a:pPr>
            <a:r>
              <a:rPr sz="1400" b="1">
                <a:solidFill>
                  <a:srgbClr val="222222"/>
                </a:solidFill>
                <a:latin typeface="Meiryo"/>
              </a:rPr>
              <a:t>CorneringLimiter: ステア速度制限 + 比例ブレーキ</a:t>
            </a:r>
          </a:p>
          <a:p>
            <a:pPr lvl="1">
              <a:spcAft>
                <a:spcPts val="500"/>
              </a:spcAft>
            </a:pPr>
            <a:r>
              <a:rPr sz="1200" b="0">
                <a:solidFill>
                  <a:srgbClr val="595959"/>
                </a:solidFill>
                <a:latin typeface="Meiryo"/>
              </a:rPr>
              <a:t>  速度床 5 m/s — 減速はしても停止はしない</a:t>
            </a:r>
          </a:p>
          <a:p>
            <a:pPr>
              <a:spcAft>
                <a:spcPts val="500"/>
              </a:spcAft>
            </a:pPr>
            <a:r>
              <a:rPr sz="1400" b="1">
                <a:solidFill>
                  <a:srgbClr val="222222"/>
                </a:solidFill>
                <a:latin typeface="Meiryo"/>
              </a:rPr>
              <a:t>StuckRecovery: 移動距離でスタック検出→バック指示</a:t>
            </a:r>
          </a:p>
          <a:p>
            <a:pPr lvl="1">
              <a:spcAft>
                <a:spcPts val="500"/>
              </a:spcAft>
            </a:pPr>
            <a:r>
              <a:rPr sz="1200" b="0">
                <a:solidFill>
                  <a:srgbClr val="595959"/>
                </a:solidFill>
                <a:latin typeface="Meiryo"/>
              </a:rPr>
              <a:t>  発進の低速と壁刺さりを距離で区別 (レーン不要)</a:t>
            </a:r>
          </a:p>
          <a:p>
            <a:pPr>
              <a:spcAft>
                <a:spcPts val="500"/>
              </a:spcAft>
            </a:pPr>
            <a:r>
              <a:rPr sz="1400" b="1">
                <a:solidFill>
                  <a:srgbClr val="222222"/>
                </a:solidFill>
                <a:latin typeface="Meiryo"/>
              </a:rPr>
              <a:t>CarController: 学習と同一物理 (Python と 1e-7 一致)</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777240"/>
          </a:xfrm>
          <a:prstGeom prst="rect">
            <a:avLst/>
          </a:prstGeom>
          <a:noFill/>
        </p:spPr>
        <p:txBody>
          <a:bodyPr wrap="none">
            <a:spAutoFit/>
          </a:bodyPr>
          <a:lstStyle/>
          <a:p>
            <a:r>
              <a:rPr sz="2800" b="1">
                <a:solidFill>
                  <a:srgbClr val="1B5EA8"/>
                </a:solidFill>
                <a:latin typeface="Meiryo"/>
              </a:rPr>
              <a:t>セットアップとノートブックの使い方</a:t>
            </a:r>
          </a:p>
        </p:txBody>
      </p:sp>
      <p:sp>
        <p:nvSpPr>
          <p:cNvPr id="3" name="TextBox 2"/>
          <p:cNvSpPr txBox="1"/>
          <p:nvPr/>
        </p:nvSpPr>
        <p:spPr>
          <a:xfrm>
            <a:off x="548640" y="1325880"/>
            <a:ext cx="11064240" cy="5394960"/>
          </a:xfrm>
          <a:prstGeom prst="rect">
            <a:avLst/>
          </a:prstGeom>
          <a:noFill/>
        </p:spPr>
        <p:txBody>
          <a:bodyPr wrap="square">
            <a:spAutoFit/>
          </a:bodyPr>
          <a:lstStyle/>
          <a:p>
            <a:pPr>
              <a:spcAft>
                <a:spcPts val="500"/>
              </a:spcAft>
            </a:pPr>
            <a:r>
              <a:rPr sz="1700" b="1">
                <a:solidFill>
                  <a:srgbClr val="222222"/>
                </a:solidFill>
                <a:latin typeface="Meiryo"/>
              </a:rPr>
              <a:t>pip install "highway-env&gt;=1.8" "stable-baselines3[extra]&gt;=2.0" gymnasium torch tensorboard moviepy onnx onnxruntime</a:t>
            </a:r>
          </a:p>
          <a:p>
            <a:pPr lvl="1">
              <a:spcAft>
                <a:spcPts val="500"/>
              </a:spcAft>
            </a:pPr>
            <a:r>
              <a:rPr sz="1500" b="0">
                <a:solidFill>
                  <a:srgbClr val="B32D2D"/>
                </a:solidFill>
                <a:latin typeface="Meiryo"/>
              </a:rPr>
              <a:t>(リポジトリの requirements.txt は旧スタック用 — 使わない)</a:t>
            </a:r>
          </a:p>
          <a:p>
            <a:pPr>
              <a:spcAft>
                <a:spcPts val="500"/>
              </a:spcAft>
            </a:pPr>
            <a:r>
              <a:rPr sz="1700" b="0">
                <a:solidFill>
                  <a:srgbClr val="222222"/>
                </a:solidFill>
                <a:latin typeface="Meiryo"/>
              </a:rPr>
              <a:t>task2_laning_overtaking_sb3_ppo.ipynb — fast トラック学習</a:t>
            </a:r>
          </a:p>
          <a:p>
            <a:pPr>
              <a:spcAft>
                <a:spcPts val="500"/>
              </a:spcAft>
            </a:pPr>
            <a:r>
              <a:rPr sz="1700" b="0">
                <a:solidFill>
                  <a:srgbClr val="222222"/>
                </a:solidFill>
                <a:latin typeface="Meiryo"/>
              </a:rPr>
              <a:t>task3_generalization_sb3_ppo.ipynb — random 学習 + トラック別レポート + 5 連動画</a:t>
            </a:r>
          </a:p>
          <a:p>
            <a:pPr>
              <a:spcAft>
                <a:spcPts val="500"/>
              </a:spcAft>
            </a:pPr>
            <a:r>
              <a:rPr sz="1700" b="1">
                <a:solidFill>
                  <a:srgbClr val="222222"/>
                </a:solidFill>
                <a:latin typeface="Meiryo"/>
              </a:rPr>
              <a:t>FAST_DEV_RUN=True: 12-15 万ステップ (周回到達を実測保証) / False: 本番 100 万+</a:t>
            </a:r>
          </a:p>
          <a:p>
            <a:pPr>
              <a:spcAft>
                <a:spcPts val="500"/>
              </a:spcAft>
            </a:pPr>
            <a:r>
              <a:rPr sz="1700" b="1">
                <a:solidFill>
                  <a:srgbClr val="222222"/>
                </a:solidFill>
                <a:latin typeface="Meiryo"/>
              </a:rPr>
              <a:t>Presentation Media セル: 学習曲線・軌跡・5 トラック動画を生成し VIDEO_DIR に保存</a:t>
            </a:r>
          </a:p>
          <a:p>
            <a:pPr>
              <a:spcAft>
                <a:spcPts val="500"/>
              </a:spcAft>
            </a:pPr>
            <a:r>
              <a:rPr sz="1700" b="0">
                <a:solidFill>
                  <a:srgbClr val="222222"/>
                </a:solidFill>
                <a:latin typeface="Meiryo"/>
              </a:rPr>
              <a:t>検証: cd re_engine/verify &amp;&amp; dotnet run -- ..  → ALL SCENARIOS MATCH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777240"/>
          </a:xfrm>
          <a:prstGeom prst="rect">
            <a:avLst/>
          </a:prstGeom>
          <a:noFill/>
        </p:spPr>
        <p:txBody>
          <a:bodyPr wrap="none">
            <a:spAutoFit/>
          </a:bodyPr>
          <a:lstStyle/>
          <a:p>
            <a:r>
              <a:rPr sz="2800" b="1">
                <a:solidFill>
                  <a:srgbClr val="1B5EA8"/>
                </a:solidFill>
                <a:latin typeface="Meiryo"/>
              </a:rPr>
              <a:t>エクスポートツールと ONNX の注意点</a:t>
            </a:r>
          </a:p>
        </p:txBody>
      </p:sp>
      <p:sp>
        <p:nvSpPr>
          <p:cNvPr id="3" name="TextBox 2"/>
          <p:cNvSpPr txBox="1"/>
          <p:nvPr/>
        </p:nvSpPr>
        <p:spPr>
          <a:xfrm>
            <a:off x="548640" y="1325880"/>
            <a:ext cx="11064240" cy="5394960"/>
          </a:xfrm>
          <a:prstGeom prst="rect">
            <a:avLst/>
          </a:prstGeom>
          <a:noFill/>
        </p:spPr>
        <p:txBody>
          <a:bodyPr wrap="square">
            <a:spAutoFit/>
          </a:bodyPr>
          <a:lstStyle/>
          <a:p>
            <a:pPr>
              <a:spcAft>
                <a:spcPts val="500"/>
              </a:spcAft>
            </a:pPr>
            <a:r>
              <a:rPr sz="1700" b="1">
                <a:solidFill>
                  <a:srgbClr val="222222"/>
                </a:solidFill>
                <a:latin typeface="Meiryo"/>
              </a:rPr>
              <a:t>python export_onnx.py &lt;model.zip&gt; -m 3   # エンジン用 NHWC [1,12,12,10] (推奨)</a:t>
            </a:r>
          </a:p>
          <a:p>
            <a:pPr lvl="1">
              <a:spcAft>
                <a:spcPts val="500"/>
              </a:spcAft>
            </a:pPr>
            <a:r>
              <a:rPr sz="1500" b="0">
                <a:solidFill>
                  <a:srgbClr val="595959"/>
                </a:solidFill>
                <a:latin typeface="Meiryo"/>
              </a:rPr>
              <a:t>  -m 1: full policy / 2: actor CHW / 3: actor NHWC / 0: 全部 — 各エクスポートは torch と自動照合</a:t>
            </a:r>
          </a:p>
          <a:p>
            <a:pPr>
              <a:spcAft>
                <a:spcPts val="500"/>
              </a:spcAft>
            </a:pPr>
            <a:r>
              <a:rPr sz="1700" b="0">
                <a:solidFill>
                  <a:srgbClr val="222222"/>
                </a:solidFill>
                <a:latin typeface="Meiryo"/>
              </a:rPr>
              <a:t>python re_engine/convert_onnx_nhwc.py &lt;actor.onnx&gt;   # 既存 CHW を NHWC 化</a:t>
            </a:r>
          </a:p>
          <a:p>
            <a:pPr>
              <a:spcAft>
                <a:spcPts val="500"/>
              </a:spcAft>
            </a:pPr>
            <a:r>
              <a:rPr sz="1700" b="0">
                <a:solidFill>
                  <a:srgbClr val="222222"/>
                </a:solidFill>
                <a:latin typeface="Meiryo"/>
              </a:rPr>
              <a:t>python re_engine/export_track_json.py   # トラック/観測変更後に参照データ再生成</a:t>
            </a:r>
          </a:p>
          <a:p>
            <a:pPr>
              <a:spcAft>
                <a:spcPts val="500"/>
              </a:spcAft>
            </a:pPr>
            <a:r>
              <a:rPr sz="1700" b="1">
                <a:solidFill>
                  <a:srgbClr val="B32D2D"/>
                </a:solidFill>
                <a:latin typeface="Meiryo"/>
              </a:rPr>
              <a:t>症状で覚える: 出力がほぼ一定 (throttle≈0.4, steer≈0.2) = レイアウト不一致</a:t>
            </a:r>
          </a:p>
          <a:p>
            <a:pPr>
              <a:spcAft>
                <a:spcPts val="500"/>
              </a:spcAft>
            </a:pPr>
            <a:r>
              <a:rPr sz="1700" b="0">
                <a:solidFill>
                  <a:srgbClr val="222222"/>
                </a:solidFill>
                <a:latin typeface="Meiryo"/>
              </a:rPr>
              <a:t>定数同期: accel/steer レンジ・5 Hz・グリッド設定は C# に複製 — 変更時は 4 点セット</a:t>
            </a:r>
          </a:p>
          <a:p>
            <a:pPr>
              <a:spcAft>
                <a:spcPts val="500"/>
              </a:spcAft>
            </a:pPr>
            <a:r>
              <a:rPr sz="1700" b="0">
                <a:solidFill>
                  <a:srgbClr val="222222"/>
                </a:solidFill>
                <a:latin typeface="Meiryo"/>
              </a:rPr>
              <a:t>単位は全て m/s・m・rad。km/h の Vector3 は KphToMs で変換 (kph 直入れは無警告で劣化)</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01168"/>
            <a:ext cx="11247120" cy="777240"/>
          </a:xfrm>
          <a:prstGeom prst="rect">
            <a:avLst/>
          </a:prstGeom>
          <a:noFill/>
        </p:spPr>
        <p:txBody>
          <a:bodyPr wrap="none">
            <a:spAutoFit/>
          </a:bodyPr>
          <a:lstStyle/>
          <a:p>
            <a:r>
              <a:rPr sz="2800" b="1">
                <a:solidFill>
                  <a:srgbClr val="1B5EA8"/>
                </a:solidFill>
                <a:latin typeface="Meiryo"/>
              </a:rPr>
              <a:t>まとめ — 環境設計こそが学習を決める</a:t>
            </a:r>
          </a:p>
        </p:txBody>
      </p:sp>
      <p:sp>
        <p:nvSpPr>
          <p:cNvPr id="3" name="TextBox 2"/>
          <p:cNvSpPr txBox="1"/>
          <p:nvPr/>
        </p:nvSpPr>
        <p:spPr>
          <a:xfrm>
            <a:off x="548640" y="1417320"/>
            <a:ext cx="11064240" cy="5394960"/>
          </a:xfrm>
          <a:prstGeom prst="rect">
            <a:avLst/>
          </a:prstGeom>
          <a:noFill/>
        </p:spPr>
        <p:txBody>
          <a:bodyPr wrap="square">
            <a:spAutoFit/>
          </a:bodyPr>
          <a:lstStyle/>
          <a:p>
            <a:pPr>
              <a:spcAft>
                <a:spcPts val="500"/>
              </a:spcAft>
            </a:pPr>
            <a:r>
              <a:rPr sz="1900" b="1">
                <a:solidFill>
                  <a:srgbClr val="222222"/>
                </a:solidFill>
                <a:latin typeface="Meiryo"/>
              </a:rPr>
              <a:t>デフォルト racetrack → ゲーム環境へ: 行動・壁・報酬・観測・トラックを段階的に進化</a:t>
            </a:r>
          </a:p>
          <a:p>
            <a:pPr>
              <a:spcAft>
                <a:spcPts val="500"/>
              </a:spcAft>
            </a:pPr>
            <a:r>
              <a:rPr sz="1900" b="1">
                <a:solidFill>
                  <a:srgbClr val="222222"/>
                </a:solidFill>
                <a:latin typeface="Meiryo"/>
              </a:rPr>
              <a:t>抜け道 (ショートカット / wall-riding / 壁這い) を報酬の経済設計で排除 → 6 万ステップで周回</a:t>
            </a:r>
          </a:p>
          <a:p>
            <a:pPr>
              <a:spcAft>
                <a:spcPts val="500"/>
              </a:spcAft>
            </a:pPr>
            <a:r>
              <a:rPr sz="1900" b="1">
                <a:solidFill>
                  <a:srgbClr val="222222"/>
                </a:solidFill>
                <a:latin typeface="Meiryo"/>
              </a:rPr>
              <a:t>自己位置を観測に入れない設計が 5 コース汎化を生んだ</a:t>
            </a:r>
          </a:p>
          <a:p>
            <a:pPr>
              <a:spcAft>
                <a:spcPts val="500"/>
              </a:spcAft>
            </a:pPr>
            <a:r>
              <a:rPr sz="1900" b="0">
                <a:solidFill>
                  <a:srgbClr val="222222"/>
                </a:solidFill>
                <a:latin typeface="Meiryo"/>
              </a:rPr>
              <a:t>C# ポートは観測ビット一致 + 物理 1e-7 一致 — 「動くはず」ではなく「同じ」</a:t>
            </a:r>
          </a:p>
          <a:p>
            <a:pPr>
              <a:spcAft>
                <a:spcPts val="500"/>
              </a:spcAft>
            </a:pPr>
            <a:r>
              <a:rPr sz="1900" b="0">
                <a:solidFill>
                  <a:srgbClr val="222222"/>
                </a:solidFill>
                <a:latin typeface="Meiryo"/>
              </a:rPr>
              <a:t>媒体生成コードはすべてノートブック内 (Presentation Media セル) — 本スライドは再現可能</a:t>
            </a:r>
          </a:p>
          <a:p>
            <a:pPr>
              <a:spcAft>
                <a:spcPts val="500"/>
              </a:spcAft>
            </a:pPr>
            <a:r>
              <a:rPr sz="1900" b="0">
                <a:solidFill>
                  <a:srgbClr val="222222"/>
                </a:solidFill>
                <a:latin typeface="Meiryo"/>
              </a:rPr>
              <a:t>次のステップ: RE Engine 実走検証・実車ダイナミクス適合・NPC レース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