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使った設定値を左右の表にまとめます。左が報酬の重み、右がシミュレーションと行動・観測です。報酬は中央維持を基礎に、速度と前進投影で『前へ速く』を作り、後退・停止・壁擦りに離散ペナルティ、チェックポイントとラップは生単位で加算します。全項を合成したあと lmap で [0,1] に正規化し、範囲 [−3,3] は通常ステップの上下限 ±2.8 を覆うように選んでいます。右側、物理は 15 Hz・意思決定は 5 Hz で 1 アクションを 3 回保持。加速度は ±5 m/s²、舵角は ±π/6。壁は停止モードで摩擦 0.6、7 秒接触で終端。これらの定数は C# 側にも複製されるため、変更時は 4 点セットの同期が必要です。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まとめです。デフォルトのステア専用レーン追従環境に、行動・壁・報酬・観測・トラックの5 段階の進化を施し、抜け道を経済的に割に合わなくした結果、6 万ステップで周回を学習する環境になりました。汎化は自己位置を見せない観測設計の帰結です。実ゲームとのギャップは一覧化した上で、消せるものは数値一致移植で消し、残差はデプロイ側フィルタで吸収する二層戦略を取っています。次のステップは RE Engine 内での実走検証と、実測に基づく壁摩擦・動力学パラメータの適合です。ご清聴ありがとうございました。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設定リファレンス — 報酬とシミュレーションの実値</a:t>
            </a:r>
          </a:p>
        </p:txBody>
      </p:sp>
      <p:graphicFrame>
        <p:nvGraphicFramePr>
          <p:cNvPr id="3" name="Table 2"/>
          <p:cNvGraphicFramePr>
            <a:graphicFrameLocks noGrp="1"/>
          </p:cNvGraphicFramePr>
          <p:nvPr/>
        </p:nvGraphicFramePr>
        <p:xfrm>
          <a:off x="365760" y="1280160"/>
          <a:ext cx="5623560" cy="5029200"/>
        </p:xfrm>
        <a:graphic>
          <a:graphicData uri="http://schemas.openxmlformats.org/drawingml/2006/table">
            <a:tbl>
              <a:tblPr firstRow="1" bandRow="1">
                <a:tableStyleId>{5C22544A-7EE6-4342-B048-85BDC9FD1C3A}</a:tableStyleId>
              </a:tblPr>
              <a:tblGrid>
                <a:gridCol w="2834640"/>
                <a:gridCol w="2788920"/>
              </a:tblGrid>
              <a:tr h="502920">
                <a:tc>
                  <a:txBody>
                    <a:bodyPr wrap="square"/>
                    <a:lstStyle/>
                    <a:p>
                      <a:r>
                        <a:rPr sz="1300" b="1">
                          <a:solidFill>
                            <a:srgbClr val="FFFFFF"/>
                          </a:solidFill>
                          <a:latin typeface="Meiryo"/>
                        </a:rPr>
                        <a:t>報酬の重み</a:t>
                      </a:r>
                    </a:p>
                  </a:txBody>
                  <a:tcPr marL="64008" marR="64008" marT="27432" marB="27432">
                    <a:solidFill>
                      <a:srgbClr val="1B5EA8"/>
                    </a:solidFill>
                  </a:tcPr>
                </a:tc>
                <a:tc>
                  <a:txBody>
                    <a:bodyPr wrap="square"/>
                    <a:lstStyle/>
                    <a:p>
                      <a:r>
                        <a:rPr sz="1300" b="1">
                          <a:solidFill>
                            <a:srgbClr val="FFFFFF"/>
                          </a:solidFill>
                          <a:latin typeface="Meiryo"/>
                        </a:rPr>
                        <a:t>値 / 範囲寄与</a:t>
                      </a:r>
                    </a:p>
                  </a:txBody>
                  <a:tcPr marL="64008" marR="64008" marT="27432" marB="27432">
                    <a:solidFill>
                      <a:srgbClr val="1B5EA8"/>
                    </a:solidFill>
                  </a:tcPr>
                </a:tc>
              </a:tr>
              <a:tr h="502920">
                <a:tc>
                  <a:txBody>
                    <a:bodyPr wrap="square"/>
                    <a:lstStyle/>
                    <a:p>
                      <a:r>
                        <a:rPr sz="1200" b="1">
                          <a:solidFill>
                            <a:srgbClr val="1B5EA8"/>
                          </a:solidFill>
                          <a:latin typeface="Meiryo"/>
                        </a:rPr>
                        <a:t>中央維持 1/(1+6·lat²)</a:t>
                      </a:r>
                    </a:p>
                  </a:txBody>
                  <a:tcPr marL="64008" marR="64008" marT="27432" marB="27432">
                    <a:solidFill>
                      <a:srgbClr val="F2F5FA"/>
                    </a:solidFill>
                  </a:tcPr>
                </a:tc>
                <a:tc>
                  <a:txBody>
                    <a:bodyPr wrap="square"/>
                    <a:lstStyle/>
                    <a:p>
                      <a:r>
                        <a:rPr sz="1200" b="0">
                          <a:solidFill>
                            <a:srgbClr val="222222"/>
                          </a:solidFill>
                          <a:latin typeface="Meiryo"/>
                        </a:rPr>
                        <a:t>重み 1.0 → [0, +1]</a:t>
                      </a:r>
                    </a:p>
                  </a:txBody>
                  <a:tcPr marL="64008" marR="64008" marT="27432" marB="27432">
                    <a:solidFill>
                      <a:srgbClr val="F2F5FA"/>
                    </a:solidFill>
                  </a:tcPr>
                </a:tc>
              </a:tr>
              <a:tr h="502920">
                <a:tc>
                  <a:txBody>
                    <a:bodyPr wrap="square"/>
                    <a:lstStyle/>
                    <a:p>
                      <a:r>
                        <a:rPr sz="1200" b="1">
                          <a:solidFill>
                            <a:srgbClr val="1B5EA8"/>
                          </a:solidFill>
                          <a:latin typeface="Meiryo"/>
                        </a:rPr>
                        <a:t>速度 (÷16 m/s)</a:t>
                      </a:r>
                    </a:p>
                  </a:txBody>
                  <a:tcPr marL="64008" marR="64008" marT="27432" marB="27432">
                    <a:solidFill>
                      <a:srgbClr val="FFFFFF"/>
                    </a:solidFill>
                  </a:tcPr>
                </a:tc>
                <a:tc>
                  <a:txBody>
                    <a:bodyPr wrap="square"/>
                    <a:lstStyle/>
                    <a:p>
                      <a:r>
                        <a:rPr sz="1200" b="0">
                          <a:solidFill>
                            <a:srgbClr val="222222"/>
                          </a:solidFill>
                          <a:latin typeface="Meiryo"/>
                        </a:rPr>
                        <a:t>1.0 → [−1, +1]</a:t>
                      </a:r>
                    </a:p>
                  </a:txBody>
                  <a:tcPr marL="64008" marR="64008" marT="27432" marB="27432">
                    <a:solidFill>
                      <a:srgbClr val="FFFFFF"/>
                    </a:solidFill>
                  </a:tcPr>
                </a:tc>
              </a:tr>
              <a:tr h="502920">
                <a:tc>
                  <a:txBody>
                    <a:bodyPr wrap="square"/>
                    <a:lstStyle/>
                    <a:p>
                      <a:r>
                        <a:rPr sz="1200" b="1">
                          <a:solidFill>
                            <a:srgbClr val="1B5EA8"/>
                          </a:solidFill>
                          <a:latin typeface="Meiryo"/>
                        </a:rPr>
                        <a:t>前進速度投影</a:t>
                      </a:r>
                    </a:p>
                  </a:txBody>
                  <a:tcPr marL="64008" marR="64008" marT="27432" marB="27432">
                    <a:solidFill>
                      <a:srgbClr val="F2F5FA"/>
                    </a:solidFill>
                  </a:tcPr>
                </a:tc>
                <a:tc>
                  <a:txBody>
                    <a:bodyPr wrap="square"/>
                    <a:lstStyle/>
                    <a:p>
                      <a:r>
                        <a:rPr sz="1200" b="0">
                          <a:solidFill>
                            <a:srgbClr val="222222"/>
                          </a:solidFill>
                          <a:latin typeface="Meiryo"/>
                        </a:rPr>
                        <a:t>0.8 → [−0.4, +0.8]</a:t>
                      </a:r>
                    </a:p>
                  </a:txBody>
                  <a:tcPr marL="64008" marR="64008" marT="27432" marB="27432">
                    <a:solidFill>
                      <a:srgbClr val="F2F5FA"/>
                    </a:solidFill>
                  </a:tcPr>
                </a:tc>
              </a:tr>
              <a:tr h="502920">
                <a:tc>
                  <a:txBody>
                    <a:bodyPr wrap="square"/>
                    <a:lstStyle/>
                    <a:p>
                      <a:r>
                        <a:rPr sz="1200" b="1">
                          <a:solidFill>
                            <a:srgbClr val="1B5EA8"/>
                          </a:solidFill>
                          <a:latin typeface="Meiryo"/>
                        </a:rPr>
                        <a:t>操舵 / ジャーク罰</a:t>
                      </a:r>
                    </a:p>
                  </a:txBody>
                  <a:tcPr marL="64008" marR="64008" marT="27432" marB="27432">
                    <a:solidFill>
                      <a:srgbClr val="FFFFFF"/>
                    </a:solidFill>
                  </a:tcPr>
                </a:tc>
                <a:tc>
                  <a:txBody>
                    <a:bodyPr wrap="square"/>
                    <a:lstStyle/>
                    <a:p>
                      <a:r>
                        <a:rPr sz="1200" b="0">
                          <a:solidFill>
                            <a:srgbClr val="222222"/>
                          </a:solidFill>
                          <a:latin typeface="Meiryo"/>
                        </a:rPr>
                        <a:t>0.10 / 0.20</a:t>
                      </a:r>
                    </a:p>
                  </a:txBody>
                  <a:tcPr marL="64008" marR="64008" marT="27432" marB="27432">
                    <a:solidFill>
                      <a:srgbClr val="FFFFFF"/>
                    </a:solidFill>
                  </a:tcPr>
                </a:tc>
              </a:tr>
              <a:tr h="502920">
                <a:tc>
                  <a:txBody>
                    <a:bodyPr wrap="square"/>
                    <a:lstStyle/>
                    <a:p>
                      <a:r>
                        <a:rPr sz="1200" b="1">
                          <a:solidFill>
                            <a:srgbClr val="1B5EA8"/>
                          </a:solidFill>
                          <a:latin typeface="Meiryo"/>
                        </a:rPr>
                        <a:t>後退 / 停止罰</a:t>
                      </a:r>
                    </a:p>
                  </a:txBody>
                  <a:tcPr marL="64008" marR="64008" marT="27432" marB="27432">
                    <a:solidFill>
                      <a:srgbClr val="F2F5FA"/>
                    </a:solidFill>
                  </a:tcPr>
                </a:tc>
                <a:tc>
                  <a:txBody>
                    <a:bodyPr wrap="square"/>
                    <a:lstStyle/>
                    <a:p>
                      <a:r>
                        <a:rPr sz="1200" b="0">
                          <a:solidFill>
                            <a:srgbClr val="222222"/>
                          </a:solidFill>
                          <a:latin typeface="Meiryo"/>
                        </a:rPr>
                        <a:t>0.80 / 0.80 (15 step 免除)</a:t>
                      </a:r>
                    </a:p>
                  </a:txBody>
                  <a:tcPr marL="64008" marR="64008" marT="27432" marB="27432">
                    <a:solidFill>
                      <a:srgbClr val="F2F5FA"/>
                    </a:solidFill>
                  </a:tcPr>
                </a:tc>
              </a:tr>
              <a:tr h="502920">
                <a:tc>
                  <a:txBody>
                    <a:bodyPr wrap="square"/>
                    <a:lstStyle/>
                    <a:p>
                      <a:r>
                        <a:rPr sz="1200" b="1">
                          <a:solidFill>
                            <a:srgbClr val="1B5EA8"/>
                          </a:solidFill>
                          <a:latin typeface="Meiryo"/>
                        </a:rPr>
                        <a:t>壁脱出 / 壁擦り</a:t>
                      </a:r>
                    </a:p>
                  </a:txBody>
                  <a:tcPr marL="64008" marR="64008" marT="27432" marB="27432">
                    <a:solidFill>
                      <a:srgbClr val="FFFFFF"/>
                    </a:solidFill>
                  </a:tcPr>
                </a:tc>
                <a:tc>
                  <a:txBody>
                    <a:bodyPr wrap="square"/>
                    <a:lstStyle/>
                    <a:p>
                      <a:r>
                        <a:rPr sz="1200" b="0">
                          <a:solidFill>
                            <a:srgbClr val="222222"/>
                          </a:solidFill>
                          <a:latin typeface="Meiryo"/>
                        </a:rPr>
                        <a:t>+0.4 / −0.6 (ゾーン 1 m)</a:t>
                      </a:r>
                    </a:p>
                  </a:txBody>
                  <a:tcPr marL="64008" marR="64008" marT="27432" marB="27432">
                    <a:solidFill>
                      <a:srgbClr val="FFFFFF"/>
                    </a:solidFill>
                  </a:tcPr>
                </a:tc>
              </a:tr>
              <a:tr h="502920">
                <a:tc>
                  <a:txBody>
                    <a:bodyPr wrap="square"/>
                    <a:lstStyle/>
                    <a:p>
                      <a:r>
                        <a:rPr sz="1200" b="1">
                          <a:solidFill>
                            <a:srgbClr val="1B5EA8"/>
                          </a:solidFill>
                          <a:latin typeface="Meiryo"/>
                        </a:rPr>
                        <a:t>CP / ラップ (生単位)</a:t>
                      </a:r>
                    </a:p>
                  </a:txBody>
                  <a:tcPr marL="64008" marR="64008" marT="27432" marB="27432">
                    <a:solidFill>
                      <a:srgbClr val="F2F5FA"/>
                    </a:solidFill>
                  </a:tcPr>
                </a:tc>
                <a:tc>
                  <a:txBody>
                    <a:bodyPr wrap="square"/>
                    <a:lstStyle/>
                    <a:p>
                      <a:r>
                        <a:rPr sz="1200" b="0">
                          <a:solidFill>
                            <a:srgbClr val="222222"/>
                          </a:solidFill>
                          <a:latin typeface="Meiryo"/>
                        </a:rPr>
                        <a:t>+1.0 / +2.0</a:t>
                      </a:r>
                    </a:p>
                  </a:txBody>
                  <a:tcPr marL="64008" marR="64008" marT="27432" marB="27432">
                    <a:solidFill>
                      <a:srgbClr val="F2F5FA"/>
                    </a:solidFill>
                  </a:tcPr>
                </a:tc>
              </a:tr>
              <a:tr h="502920">
                <a:tc>
                  <a:txBody>
                    <a:bodyPr wrap="square"/>
                    <a:lstStyle/>
                    <a:p>
                      <a:r>
                        <a:rPr sz="1200" b="1">
                          <a:solidFill>
                            <a:srgbClr val="1B5EA8"/>
                          </a:solidFill>
                          <a:latin typeface="Meiryo"/>
                        </a:rPr>
                        <a:t>衝突 (終端上書き)</a:t>
                      </a:r>
                    </a:p>
                  </a:txBody>
                  <a:tcPr marL="64008" marR="64008" marT="27432" marB="27432">
                    <a:solidFill>
                      <a:srgbClr val="FFFFFF"/>
                    </a:solidFill>
                  </a:tcPr>
                </a:tc>
                <a:tc>
                  <a:txBody>
                    <a:bodyPr wrap="square"/>
                    <a:lstStyle/>
                    <a:p>
                      <a:r>
                        <a:rPr sz="1200" b="0">
                          <a:solidFill>
                            <a:srgbClr val="222222"/>
                          </a:solidFill>
                          <a:latin typeface="Meiryo"/>
                        </a:rPr>
                        <a:t>−5.0</a:t>
                      </a:r>
                    </a:p>
                  </a:txBody>
                  <a:tcPr marL="64008" marR="64008" marT="27432" marB="27432">
                    <a:solidFill>
                      <a:srgbClr val="FFFFFF"/>
                    </a:solidFill>
                  </a:tcPr>
                </a:tc>
              </a:tr>
              <a:tr h="502920">
                <a:tc>
                  <a:txBody>
                    <a:bodyPr wrap="square"/>
                    <a:lstStyle/>
                    <a:p>
                      <a:r>
                        <a:rPr sz="1200" b="1">
                          <a:solidFill>
                            <a:srgbClr val="1B5EA8"/>
                          </a:solidFill>
                          <a:latin typeface="Meiryo"/>
                        </a:rPr>
                        <a:t>正規化</a:t>
                      </a:r>
                    </a:p>
                  </a:txBody>
                  <a:tcPr marL="64008" marR="64008" marT="27432" marB="27432">
                    <a:solidFill>
                      <a:srgbClr val="F2F5FA"/>
                    </a:solidFill>
                  </a:tcPr>
                </a:tc>
                <a:tc>
                  <a:txBody>
                    <a:bodyPr wrap="square"/>
                    <a:lstStyle/>
                    <a:p>
                      <a:r>
                        <a:rPr sz="1200" b="0">
                          <a:solidFill>
                            <a:srgbClr val="222222"/>
                          </a:solidFill>
                          <a:latin typeface="Meiryo"/>
                        </a:rPr>
                        <a:t>lmap [−3,3] → [0,1] → clip</a:t>
                      </a:r>
                    </a:p>
                  </a:txBody>
                  <a:tcPr marL="64008" marR="64008" marT="27432" marB="27432">
                    <a:solidFill>
                      <a:srgbClr val="F2F5FA"/>
                    </a:solidFill>
                  </a:tcPr>
                </a:tc>
              </a:tr>
            </a:tbl>
          </a:graphicData>
        </a:graphic>
      </p:graphicFrame>
      <p:graphicFrame>
        <p:nvGraphicFramePr>
          <p:cNvPr id="4" name="Table 3"/>
          <p:cNvGraphicFramePr>
            <a:graphicFrameLocks noGrp="1"/>
          </p:cNvGraphicFramePr>
          <p:nvPr/>
        </p:nvGraphicFramePr>
        <p:xfrm>
          <a:off x="6263640" y="1280160"/>
          <a:ext cx="5577840" cy="5029200"/>
        </p:xfrm>
        <a:graphic>
          <a:graphicData uri="http://schemas.openxmlformats.org/drawingml/2006/table">
            <a:tbl>
              <a:tblPr firstRow="1" bandRow="1">
                <a:tableStyleId>{5C22544A-7EE6-4342-B048-85BDC9FD1C3A}</a:tableStyleId>
              </a:tblPr>
              <a:tblGrid>
                <a:gridCol w="2606040"/>
                <a:gridCol w="2971800"/>
              </a:tblGrid>
              <a:tr h="502920">
                <a:tc>
                  <a:txBody>
                    <a:bodyPr wrap="square"/>
                    <a:lstStyle/>
                    <a:p>
                      <a:r>
                        <a:rPr sz="1300" b="1">
                          <a:solidFill>
                            <a:srgbClr val="FFFFFF"/>
                          </a:solidFill>
                          <a:latin typeface="Meiryo"/>
                        </a:rPr>
                        <a:t>シミュレーション / 行動 / 観測</a:t>
                      </a:r>
                    </a:p>
                  </a:txBody>
                  <a:tcPr marL="64008" marR="64008" marT="27432" marB="27432">
                    <a:solidFill>
                      <a:srgbClr val="1B5EA8"/>
                    </a:solidFill>
                  </a:tcPr>
                </a:tc>
                <a:tc>
                  <a:txBody>
                    <a:bodyPr wrap="square"/>
                    <a:lstStyle/>
                    <a:p>
                      <a:r>
                        <a:rPr sz="1300" b="1">
                          <a:solidFill>
                            <a:srgbClr val="FFFFFF"/>
                          </a:solidFill>
                          <a:latin typeface="Meiryo"/>
                        </a:rPr>
                        <a:t>値</a:t>
                      </a:r>
                    </a:p>
                  </a:txBody>
                  <a:tcPr marL="64008" marR="64008" marT="27432" marB="27432">
                    <a:solidFill>
                      <a:srgbClr val="1B5EA8"/>
                    </a:solidFill>
                  </a:tcPr>
                </a:tc>
              </a:tr>
              <a:tr h="502920">
                <a:tc>
                  <a:txBody>
                    <a:bodyPr wrap="square"/>
                    <a:lstStyle/>
                    <a:p>
                      <a:r>
                        <a:rPr sz="1200" b="1">
                          <a:solidFill>
                            <a:srgbClr val="1B5EA8"/>
                          </a:solidFill>
                          <a:latin typeface="Meiryo"/>
                        </a:rPr>
                        <a:t>物理 / 意思決定</a:t>
                      </a:r>
                    </a:p>
                  </a:txBody>
                  <a:tcPr marL="64008" marR="64008" marT="27432" marB="27432">
                    <a:solidFill>
                      <a:srgbClr val="F2F5FA"/>
                    </a:solidFill>
                  </a:tcPr>
                </a:tc>
                <a:tc>
                  <a:txBody>
                    <a:bodyPr wrap="square"/>
                    <a:lstStyle/>
                    <a:p>
                      <a:r>
                        <a:rPr sz="1200" b="0">
                          <a:solidFill>
                            <a:srgbClr val="222222"/>
                          </a:solidFill>
                          <a:latin typeface="Meiryo"/>
                        </a:rPr>
                        <a:t>15 Hz / 5 Hz (repeat 3)</a:t>
                      </a:r>
                    </a:p>
                  </a:txBody>
                  <a:tcPr marL="64008" marR="64008" marT="27432" marB="27432">
                    <a:solidFill>
                      <a:srgbClr val="F2F5FA"/>
                    </a:solidFill>
                  </a:tcPr>
                </a:tc>
              </a:tr>
              <a:tr h="502920">
                <a:tc>
                  <a:txBody>
                    <a:bodyPr wrap="square"/>
                    <a:lstStyle/>
                    <a:p>
                      <a:r>
                        <a:rPr sz="1200" b="1">
                          <a:solidFill>
                            <a:srgbClr val="1B5EA8"/>
                          </a:solidFill>
                          <a:latin typeface="Meiryo"/>
                        </a:rPr>
                        <a:t>制限速度</a:t>
                      </a:r>
                    </a:p>
                  </a:txBody>
                  <a:tcPr marL="64008" marR="64008" marT="27432" marB="27432">
                    <a:solidFill>
                      <a:srgbClr val="FFFFFF"/>
                    </a:solidFill>
                  </a:tcPr>
                </a:tc>
                <a:tc>
                  <a:txBody>
                    <a:bodyPr wrap="square"/>
                    <a:lstStyle/>
                    <a:p>
                      <a:r>
                        <a:rPr sz="1200" b="0">
                          <a:solidFill>
                            <a:srgbClr val="222222"/>
                          </a:solidFill>
                          <a:latin typeface="Meiryo"/>
                        </a:rPr>
                        <a:t>16 m/s</a:t>
                      </a:r>
                    </a:p>
                  </a:txBody>
                  <a:tcPr marL="64008" marR="64008" marT="27432" marB="27432">
                    <a:solidFill>
                      <a:srgbClr val="FFFFFF"/>
                    </a:solidFill>
                  </a:tcPr>
                </a:tc>
              </a:tr>
              <a:tr h="502920">
                <a:tc>
                  <a:txBody>
                    <a:bodyPr wrap="square"/>
                    <a:lstStyle/>
                    <a:p>
                      <a:r>
                        <a:rPr sz="1200" b="1">
                          <a:solidFill>
                            <a:srgbClr val="1B5EA8"/>
                          </a:solidFill>
                          <a:latin typeface="Meiryo"/>
                        </a:rPr>
                        <a:t>加速度レンジ</a:t>
                      </a:r>
                    </a:p>
                  </a:txBody>
                  <a:tcPr marL="64008" marR="64008" marT="27432" marB="27432">
                    <a:solidFill>
                      <a:srgbClr val="F2F5FA"/>
                    </a:solidFill>
                  </a:tcPr>
                </a:tc>
                <a:tc>
                  <a:txBody>
                    <a:bodyPr wrap="square"/>
                    <a:lstStyle/>
                    <a:p>
                      <a:r>
                        <a:rPr sz="1200" b="0">
                          <a:solidFill>
                            <a:srgbClr val="222222"/>
                          </a:solidFill>
                          <a:latin typeface="Meiryo"/>
                        </a:rPr>
                        <a:t>±5 m/s²</a:t>
                      </a:r>
                    </a:p>
                  </a:txBody>
                  <a:tcPr marL="64008" marR="64008" marT="27432" marB="27432">
                    <a:solidFill>
                      <a:srgbClr val="F2F5FA"/>
                    </a:solidFill>
                  </a:tcPr>
                </a:tc>
              </a:tr>
              <a:tr h="502920">
                <a:tc>
                  <a:txBody>
                    <a:bodyPr wrap="square"/>
                    <a:lstStyle/>
                    <a:p>
                      <a:r>
                        <a:rPr sz="1200" b="1">
                          <a:solidFill>
                            <a:srgbClr val="1B5EA8"/>
                          </a:solidFill>
                          <a:latin typeface="Meiryo"/>
                        </a:rPr>
                        <a:t>舵角レンジ</a:t>
                      </a:r>
                    </a:p>
                  </a:txBody>
                  <a:tcPr marL="64008" marR="64008" marT="27432" marB="27432">
                    <a:solidFill>
                      <a:srgbClr val="FFFFFF"/>
                    </a:solidFill>
                  </a:tcPr>
                </a:tc>
                <a:tc>
                  <a:txBody>
                    <a:bodyPr wrap="square"/>
                    <a:lstStyle/>
                    <a:p>
                      <a:r>
                        <a:rPr sz="1200" b="0">
                          <a:solidFill>
                            <a:srgbClr val="222222"/>
                          </a:solidFill>
                          <a:latin typeface="Meiryo"/>
                        </a:rPr>
                        <a:t>±π/6 (30°)</a:t>
                      </a:r>
                    </a:p>
                  </a:txBody>
                  <a:tcPr marL="64008" marR="64008" marT="27432" marB="27432">
                    <a:solidFill>
                      <a:srgbClr val="FFFFFF"/>
                    </a:solidFill>
                  </a:tcPr>
                </a:tc>
              </a:tr>
              <a:tr h="502920">
                <a:tc>
                  <a:txBody>
                    <a:bodyPr wrap="square"/>
                    <a:lstStyle/>
                    <a:p>
                      <a:r>
                        <a:rPr sz="1200" b="1">
                          <a:solidFill>
                            <a:srgbClr val="1B5EA8"/>
                          </a:solidFill>
                          <a:latin typeface="Meiryo"/>
                        </a:rPr>
                        <a:t>車両モデル</a:t>
                      </a:r>
                    </a:p>
                  </a:txBody>
                  <a:tcPr marL="64008" marR="64008" marT="27432" marB="27432">
                    <a:solidFill>
                      <a:srgbClr val="F2F5FA"/>
                    </a:solidFill>
                  </a:tcPr>
                </a:tc>
                <a:tc>
                  <a:txBody>
                    <a:bodyPr wrap="square"/>
                    <a:lstStyle/>
                    <a:p>
                      <a:r>
                        <a:rPr sz="1200" b="0">
                          <a:solidFill>
                            <a:srgbClr val="222222"/>
                          </a:solidFill>
                          <a:latin typeface="Meiryo"/>
                        </a:rPr>
                        <a:t>動的 Bicycle (RK4)</a:t>
                      </a:r>
                    </a:p>
                  </a:txBody>
                  <a:tcPr marL="64008" marR="64008" marT="27432" marB="27432">
                    <a:solidFill>
                      <a:srgbClr val="F2F5FA"/>
                    </a:solidFill>
                  </a:tcPr>
                </a:tc>
              </a:tr>
              <a:tr h="502920">
                <a:tc>
                  <a:txBody>
                    <a:bodyPr wrap="square"/>
                    <a:lstStyle/>
                    <a:p>
                      <a:r>
                        <a:rPr sz="1200" b="1">
                          <a:solidFill>
                            <a:srgbClr val="1B5EA8"/>
                          </a:solidFill>
                          <a:latin typeface="Meiryo"/>
                        </a:rPr>
                        <a:t>観測</a:t>
                      </a:r>
                    </a:p>
                  </a:txBody>
                  <a:tcPr marL="64008" marR="64008" marT="27432" marB="27432">
                    <a:solidFill>
                      <a:srgbClr val="FFFFFF"/>
                    </a:solidFill>
                  </a:tcPr>
                </a:tc>
                <a:tc>
                  <a:txBody>
                    <a:bodyPr wrap="square"/>
                    <a:lstStyle/>
                    <a:p>
                      <a:r>
                        <a:rPr sz="1200" b="0">
                          <a:solidFill>
                            <a:srgbClr val="222222"/>
                          </a:solidFill>
                          <a:latin typeface="Meiryo"/>
                        </a:rPr>
                        <a:t>10ch, 前27/後9/横±18 m, 3 m</a:t>
                      </a:r>
                    </a:p>
                  </a:txBody>
                  <a:tcPr marL="64008" marR="64008" marT="27432" marB="27432">
                    <a:solidFill>
                      <a:srgbClr val="FFFFFF"/>
                    </a:solidFill>
                  </a:tcPr>
                </a:tc>
              </a:tr>
              <a:tr h="502920">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stop + 摩擦 0.6, 35 step 終端</a:t>
                      </a:r>
                    </a:p>
                  </a:txBody>
                  <a:tcPr marL="64008" marR="64008" marT="27432" marB="27432">
                    <a:solidFill>
                      <a:srgbClr val="F2F5FA"/>
                    </a:solidFill>
                  </a:tcPr>
                </a:tc>
              </a:tr>
              <a:tr h="502920">
                <a:tc>
                  <a:txBody>
                    <a:bodyPr wrap="square"/>
                    <a:lstStyle/>
                    <a:p>
                      <a:r>
                        <a:rPr sz="1200" b="1">
                          <a:solidFill>
                            <a:srgbClr val="1B5EA8"/>
                          </a:solidFill>
                          <a:latin typeface="Meiryo"/>
                        </a:rPr>
                        <a:t>エピソード長</a:t>
                      </a:r>
                    </a:p>
                  </a:txBody>
                  <a:tcPr marL="64008" marR="64008" marT="27432" marB="27432">
                    <a:solidFill>
                      <a:srgbClr val="FFFFFF"/>
                    </a:solidFill>
                  </a:tcPr>
                </a:tc>
                <a:tc>
                  <a:txBody>
                    <a:bodyPr wrap="square"/>
                    <a:lstStyle/>
                    <a:p>
                      <a:r>
                        <a:rPr sz="1200" b="0">
                          <a:solidFill>
                            <a:srgbClr val="222222"/>
                          </a:solidFill>
                          <a:latin typeface="Meiryo"/>
                        </a:rPr>
                        <a:t>800 s (評価 120/60 s)</a:t>
                      </a:r>
                    </a:p>
                  </a:txBody>
                  <a:tcPr marL="64008" marR="64008" marT="27432" marB="27432">
                    <a:solidFill>
                      <a:srgbClr val="FFFFFF"/>
                    </a:solidFill>
                  </a:tcPr>
                </a:tc>
              </a:tr>
              <a:tr h="502920">
                <a:tc>
                  <a:txBody>
                    <a:bodyPr wrap="square"/>
                    <a:lstStyle/>
                    <a:p>
                      <a:r>
                        <a:rPr sz="1200" b="1">
                          <a:solidFill>
                            <a:srgbClr val="1B5EA8"/>
                          </a:solidFill>
                          <a:latin typeface="Meiryo"/>
                        </a:rPr>
                        <a:t>路外</a:t>
                      </a:r>
                    </a:p>
                  </a:txBody>
                  <a:tcPr marL="64008" marR="64008" marT="27432" marB="27432">
                    <a:solidFill>
                      <a:srgbClr val="F2F5FA"/>
                    </a:solidFill>
                  </a:tcPr>
                </a:tc>
                <a:tc>
                  <a:txBody>
                    <a:bodyPr wrap="square"/>
                    <a:lstStyle/>
                    <a:p>
                      <a:r>
                        <a:rPr sz="1200" b="0">
                          <a:solidFill>
                            <a:srgbClr val="222222"/>
                          </a:solidFill>
                          <a:latin typeface="Meiryo"/>
                        </a:rPr>
                        <a:t>terminate_off_road=True</a:t>
                      </a:r>
                    </a:p>
                  </a:txBody>
                  <a:tcPr marL="64008" marR="64008" marT="27432" marB="27432">
                    <a:solidFill>
                      <a:srgbClr val="F2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環境設計こそが学習を決める</a:t>
            </a:r>
          </a:p>
        </p:txBody>
      </p:sp>
      <p:sp>
        <p:nvSpPr>
          <p:cNvPr id="3" name="TextBox 2"/>
          <p:cNvSpPr txBox="1"/>
          <p:nvPr/>
        </p:nvSpPr>
        <p:spPr>
          <a:xfrm>
            <a:off x="548640" y="1371600"/>
            <a:ext cx="11064240" cy="5486400"/>
          </a:xfrm>
          <a:prstGeom prst="rect">
            <a:avLst/>
          </a:prstGeom>
          <a:noFill/>
        </p:spPr>
        <p:txBody>
          <a:bodyPr wrap="square">
            <a:spAutoFit/>
          </a:bodyPr>
          <a:lstStyle/>
          <a:p>
            <a:pPr>
              <a:spcAft>
                <a:spcPts val="600"/>
              </a:spcAft>
            </a:pPr>
            <a:r>
              <a:rPr sz="1800" b="1">
                <a:solidFill>
                  <a:srgbClr val="222222"/>
                </a:solidFill>
                <a:latin typeface="Meiryo"/>
              </a:rPr>
              <a:t>環境の進化: 行動 → 壁 → 報酬 → 観測 → トラックの 5 段階で「ゲームのレース」に到達</a:t>
            </a:r>
          </a:p>
          <a:p>
            <a:pPr>
              <a:spcAft>
                <a:spcPts val="600"/>
              </a:spcAft>
            </a:pPr>
            <a:r>
              <a:rPr sz="1800" b="1">
                <a:solidFill>
                  <a:srgbClr val="222222"/>
                </a:solidFill>
                <a:latin typeface="Meiryo"/>
              </a:rPr>
              <a:t>抜け道 (ショートカット / wall-riding / 壁這い) は報酬の経済設計で排除 → 6 万 step で周回</a:t>
            </a:r>
          </a:p>
          <a:p>
            <a:pPr>
              <a:spcAft>
                <a:spcPts val="600"/>
              </a:spcAft>
            </a:pPr>
            <a:r>
              <a:rPr sz="1800" b="1">
                <a:solidFill>
                  <a:srgbClr val="222222"/>
                </a:solidFill>
                <a:latin typeface="Meiryo"/>
              </a:rPr>
              <a:t>汎化 = 自己位置を見せない観測の帰納バイアス (ランダム化はその補強)</a:t>
            </a:r>
          </a:p>
          <a:p>
            <a:pPr>
              <a:spcAft>
                <a:spcPts val="600"/>
              </a:spcAft>
            </a:pPr>
            <a:r>
              <a:rPr sz="1800" b="1">
                <a:solidFill>
                  <a:srgbClr val="222222"/>
                </a:solidFill>
                <a:latin typeface="Meiryo"/>
              </a:rPr>
              <a:t>実ゲームギャップは一覧化済み: 数値一致移植で消す + デプロイ側フィルタで吸収の二層</a:t>
            </a:r>
          </a:p>
          <a:p>
            <a:pPr>
              <a:spcAft>
                <a:spcPts val="600"/>
              </a:spcAft>
            </a:pPr>
            <a:r>
              <a:rPr sz="1800" b="0">
                <a:solidFill>
                  <a:srgbClr val="222222"/>
                </a:solidFill>
                <a:latin typeface="Meiryo"/>
              </a:rPr>
              <a:t>本スライドの図・動画はすべてノートブックから再現可能 (Presentation Media セル)</a:t>
            </a:r>
          </a:p>
          <a:p>
            <a:pPr>
              <a:spcAft>
                <a:spcPts val="600"/>
              </a:spcAft>
            </a:pPr>
            <a:r>
              <a:rPr sz="1800" b="0">
                <a:solidFill>
                  <a:srgbClr val="222222"/>
                </a:solidFill>
                <a:latin typeface="Meiryo"/>
              </a:rPr>
              <a:t>次: RE Engine 実走検証 / 壁摩擦・動力学の実測適合 / NPC レース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