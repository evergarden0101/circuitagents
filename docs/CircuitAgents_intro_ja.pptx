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プロジェクトを紹介します。highway-env 上で強化学習させたレース走行エージェントを、ONNX 経由で C# ゲームエンジン (RE Engine) にデプロイするまでの一連のパイプラインです。まず結果からお見せし、その後に環境・学習設定の変更点、セットアップ方法、エクスポートツールの使い方を説明します。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最初に結果です。PPO エージェントはメインの fast トラックを制限速度 16 m/s で安定走行し、800 秒のエピソードで 37 周、壁への衝突ゼロを達成しました。学習は 3 万〜6 万ステップで周回能力が立ち上がり、12 万ステップの fast-dev 設定でも周回します。さらに、ランダムトラックで学習した汎化モデルは、5 種類すべてのコースを同一の重みで走り切ります。C# 側の観測生成は Python 環境とビット一致で検証済みです。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学習の立ち上がりです。横軸が学習ステップ、縦軸がエピソードあたりの周回数です。3 万ステップでは 1 周程度で壁に刺さりますが、6 万ステップで 32 周、9 万で 36 周に達し、以降は制限速度での巡航に収束します。ランダムトラック学習 (task3) でも、最難関の chicane 評価で 5 万ステップ時点から 33 周と、ほぼ同じ速度で立ち上がります。報酬が密に設計されているため学習が速いのが特徴です。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万ステップの fast-dev モデルの 2 分間の走行軌跡です。黒線がコース外壁、点の色が速度を表します。直線では 16 m/s、ヘアピンでは適切に減速して立て直しているのが分かります。以前問題になっていた e-f コーナーの壁張り付きも解消されています。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こちらが汎化モデルの結果です。エピソードごとにトラックをランダムに切り替えて 15 万ステップ学習した1 つの方策を、5 つのコースで同時に評価しました。すべてのコースを平均 15.7 m/s、2 分間ノーミスで周回します。エージェントは自己位置を観測できないため、コース形状を暗記できず、反射的なレーン追従を学習したことが汎化の理由です。動画はスライドに埋め込んであります。再生してご覧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使用している 5 つのトラックです。すべて 2 車線・幅 5 m で、直線と円弧のみで構成しています。fast は S 字と 2 つのヘアピンを持つメインコース、oval と stadium は基礎、rect は 90 度コーナーの繰り返し、chicane は左右両方向の切り返しと最小半径 10 m のキンクを持ちます。各トラックは C# 側のプリセットと track_&lt;name&gt;.json にも複製され、検証ハーネスが両者の幾何一致を自動チェックします。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オリジナルの highway-env racetrack 環境との違いです。1 つ目は壁の物理です。標準では路外に出ても罰則だけですが、本環境ではコース外周だけを物理的な壁とし、車線間の白線は壁にしません。壁に当たると停止し、バックでしか脱出できません。2 つ目は報酬設計です。速度・車線中央維持・チェックポイント/ラップボーナスを生の単位で合成し、[-3,3] から [0,1] へ線形写像します。この範囲が実際の報酬の下限を覆っていないと、悪い状態がすべて 0 に飽和して勾配が消えるため、範囲の導出をコメントで管理しています。3 つ目は壁脱出の経済設計です。壁から 1 m 以内ではバック走行のペナルティを免除し、壁からの距離増加に報酬を与えます。これがないと、脱出の一歩目で罰せられて壁沿いを這う局所解を学習してしまいます。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観測は 10 チャネル 12x12 の OccupancyGrid で、前方 27 m・後方 9 m の非対称な視野にしています。レース走行ではコーナーの先読みが重要なためです。行動は連続値のスロットルとステアリングで、学習時と同じ動力学モデル (タイヤスリップ付き Bicycle model) を使います。学習は 2 フェーズの PPO です。フェーズ 1 で他車なしのレーン追従、フェーズ 2 で NPC を加えた追い越しをファインチューニングします。初期方策のスロットルバイアスを +0.4 にずらし、序盤の探索で前進が出やすくしています。fast-dev は 12 万ステップで、本番と同じハイパーパラメータのまま短縮した「周回まで確実に到達する最小構成」です。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環境構築はこの 1 行です。リポジトリ直下の requirements.txt は旧 TensorFlow 系スタック用なので使わないでください。ノートブックは 2 つあり、task2 が fast トラック専用、task3 がランダムトラックの汎化学習用です。設定セルの FAST_DEV_RUN を True にすると短縮学習、False にすると本番学習になります。学習の進捗は Reward yardstick セルの数値と TensorBoard で確認でき、eval/mean_reward が周回相当値を超えたら周回できています。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学習済みモデルのエクスポートは export_onnx.py で行います。モードは 1 が full policy、2 が actor の channels-first、3 がエンジン用の channels-last NHWC、0 で全部です。エンジン側は必ず NHWC 版 ppo_actor_only_nhwc.onnx を使ってください。C# ビルダーは H×W×C の平坦配列を出力するため、channels-first 版に入れるとチャネルが混ざり、スロットル 0.4・ステア 0.2 程度のほぼ一定出力に退化します。トラック形状を変えたら export_track_json.py で JSON を再生成し、検証ハーネスを回します。C# 側には観測ビルダーに加えて、ステアリング平滑化・コーナー減速・スタック検出・学習と同一物理の CarController が入っています。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まとめです。壁の物理と報酬の経済設計を作り込むことで、PPO は 6 万ステップで周回を学習し、ランダムトラック学習によって 1 つの方策が 5 コースすべてを走れるようになりました。C# 側は観測・物理ともに Python と数値一致で検証済みなので、エンジンに載せた瞬間から学習時と同じ挙動が期待できます。今後はゲーム内での実走検証と、実車ダイナミクスに合わせた微調整が次のステップ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microsoft.com/office/2007/relationships/media" Target="../media/media1.mp4"/><Relationship Id="rId5" Type="http://schemas.openxmlformats.org/officeDocument/2006/relationships/video" Target="../media/media1.mp4"/></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 PPO から RE Engine (ONNX) まで</a:t>
            </a:r>
          </a:p>
          <a:p>
            <a:r>
              <a:rPr sz="1800">
                <a:solidFill>
                  <a:srgbClr val="666666"/>
                </a:solidFill>
                <a:latin typeface="Meiryo"/>
              </a:rPr>
              <a:t>学習環境・報酬設計・C# デプロイパイプラインの全体紹介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結果ハイライト</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600"/>
              </a:spcAft>
            </a:pPr>
            <a:r>
              <a:rPr sz="2000" b="1">
                <a:solidFill>
                  <a:srgbClr val="222222"/>
                </a:solidFill>
                <a:latin typeface="Meiryo"/>
              </a:rPr>
              <a:t>37 周 / 800 秒エピソード・16 m/s (制限速度) で無衝突 — fast トラック</a:t>
            </a:r>
          </a:p>
          <a:p>
            <a:pPr>
              <a:spcAft>
                <a:spcPts val="600"/>
              </a:spcAft>
            </a:pPr>
            <a:r>
              <a:rPr sz="2000" b="0">
                <a:solidFill>
                  <a:srgbClr val="222222"/>
                </a:solidFill>
                <a:latin typeface="Meiryo"/>
              </a:rPr>
              <a:t>周回能力は 3〜6 万ステップで獲得 (実測) — fast-dev (12万) でも確実に周回</a:t>
            </a:r>
          </a:p>
          <a:p>
            <a:pPr>
              <a:spcAft>
                <a:spcPts val="600"/>
              </a:spcAft>
            </a:pPr>
            <a:r>
              <a:rPr sz="2000" b="1">
                <a:solidFill>
                  <a:srgbClr val="222222"/>
                </a:solidFill>
                <a:latin typeface="Meiryo"/>
              </a:rPr>
              <a:t>汎化モデル: 1 つの方策で 5 トラックすべてを 2 分間ノーミス走行</a:t>
            </a:r>
          </a:p>
          <a:p>
            <a:pPr>
              <a:spcAft>
                <a:spcPts val="600"/>
              </a:spcAft>
            </a:pPr>
            <a:r>
              <a:rPr sz="2000" b="0">
                <a:solidFill>
                  <a:srgbClr val="222222"/>
                </a:solidFill>
                <a:latin typeface="Meiryo"/>
              </a:rPr>
              <a:t>ゼロショット転移: fast のみで学習した方策が他 4 トラックも制限速度で走行</a:t>
            </a:r>
          </a:p>
          <a:p>
            <a:pPr>
              <a:spcAft>
                <a:spcPts val="600"/>
              </a:spcAft>
            </a:pPr>
            <a:r>
              <a:rPr sz="2000" b="1">
                <a:solidFill>
                  <a:srgbClr val="222222"/>
                </a:solidFill>
                <a:latin typeface="Meiryo"/>
              </a:rPr>
              <a:t>C# 観測ポート: Python とビット一致 (maxDiff = 0.0) を検証ハーネスで保証</a:t>
            </a:r>
          </a:p>
          <a:p>
            <a:pPr>
              <a:spcAft>
                <a:spcPts val="600"/>
              </a:spcAft>
            </a:pPr>
            <a:r>
              <a:rPr sz="2000" b="0">
                <a:solidFill>
                  <a:srgbClr val="222222"/>
                </a:solidFill>
                <a:latin typeface="Meiryo"/>
              </a:rPr>
              <a:t>ONNX 3 種 (full / actor CHW / actor NHWC) をエクスポート、エンジンは NHWC を使用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学習曲線 — 周回数 vs 学習ステップ</a:t>
            </a:r>
          </a:p>
        </p:txBody>
      </p:sp>
      <p:pic>
        <p:nvPicPr>
          <p:cNvPr id="3" name="Picture 2" descr="learning_curve.png"/>
          <p:cNvPicPr>
            <a:picLocks noChangeAspect="1"/>
          </p:cNvPicPr>
          <p:nvPr/>
        </p:nvPicPr>
        <p:blipFill>
          <a:blip r:embed="rId3"/>
          <a:stretch>
            <a:fillRect/>
          </a:stretch>
        </p:blipFill>
        <p:spPr>
          <a:xfrm>
            <a:off x="2377440" y="1234440"/>
            <a:ext cx="7498079" cy="41989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走行軌跡 — fast トラック (fast-dev モデル)</a:t>
            </a:r>
          </a:p>
        </p:txBody>
      </p:sp>
      <p:pic>
        <p:nvPicPr>
          <p:cNvPr id="3" name="Picture 2" descr="fastdev_trajectory.png"/>
          <p:cNvPicPr>
            <a:picLocks noChangeAspect="1"/>
          </p:cNvPicPr>
          <p:nvPr/>
        </p:nvPicPr>
        <p:blipFill>
          <a:blip r:embed="rId3"/>
          <a:stretch>
            <a:fillRect/>
          </a:stretch>
        </p:blipFill>
        <p:spPr>
          <a:xfrm>
            <a:off x="2834640" y="118872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汎化モデル — 1 つの方策で 5 トラック</a:t>
            </a:r>
          </a:p>
        </p:txBody>
      </p:sp>
      <p:pic>
        <p:nvPicPr>
          <p:cNvPr id="3" name="Picture 2" descr="gen_tracks_grid.png"/>
          <p:cNvPicPr>
            <a:picLocks noChangeAspect="1"/>
          </p:cNvPicPr>
          <p:nvPr/>
        </p:nvPicPr>
        <p:blipFill>
          <a:blip r:embed="rId3"/>
          <a:stretch>
            <a:fillRect/>
          </a:stretch>
        </p:blipFill>
        <p:spPr>
          <a:xfrm>
            <a:off x="411480" y="137160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3566160" y="4206240"/>
            <a:ext cx="5029200" cy="150876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学習トラック一覧 (race_env.py)</a:t>
            </a:r>
          </a:p>
        </p:txBody>
      </p:sp>
      <p:pic>
        <p:nvPicPr>
          <p:cNvPr id="3" name="Picture 2" descr="track_shapes.png"/>
          <p:cNvPicPr>
            <a:picLocks noChangeAspect="1"/>
          </p:cNvPicPr>
          <p:nvPr/>
        </p:nvPicPr>
        <p:blipFill>
          <a:blip r:embed="rId3"/>
          <a:stretch>
            <a:fillRect/>
          </a:stretch>
        </p:blipFill>
        <p:spPr>
          <a:xfrm>
            <a:off x="411480" y="1737360"/>
            <a:ext cx="11338560" cy="22677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highway-env からの変更点 (1) 環境</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pPr>
            <a:r>
              <a:rPr sz="1700" b="1">
                <a:solidFill>
                  <a:srgbClr val="222222"/>
                </a:solidFill>
                <a:latin typeface="Meiryo"/>
              </a:rPr>
              <a:t>壁 = コース外周のみ (車線境界線は壁ではない)・接触で停止・バックで脱出</a:t>
            </a:r>
          </a:p>
          <a:p>
            <a:pPr lvl="1">
              <a:spcAft>
                <a:spcPts val="600"/>
              </a:spcAft>
            </a:pPr>
            <a:r>
              <a:rPr sz="1500" b="0">
                <a:solidFill>
                  <a:srgbClr val="666666"/>
                </a:solidFill>
                <a:latin typeface="Meiryo"/>
              </a:rPr>
              <a:t>理由: ゲーム側の物理と一致させ、壁ずり走行 (wall-riding) を防ぐ</a:t>
            </a:r>
          </a:p>
          <a:p>
            <a:pPr>
              <a:spcAft>
                <a:spcPts val="600"/>
              </a:spcAft>
            </a:pPr>
            <a:r>
              <a:rPr sz="1700" b="0">
                <a:solidFill>
                  <a:srgbClr val="222222"/>
                </a:solidFill>
                <a:latin typeface="Meiryo"/>
              </a:rPr>
              <a:t>壁接触が 35 ステップ続くとクラッシュ扱いで終了 — 壁沿い周回の悪用を遮断</a:t>
            </a:r>
          </a:p>
          <a:p>
            <a:pPr>
              <a:spcAft>
                <a:spcPts val="600"/>
              </a:spcAft>
            </a:pPr>
            <a:r>
              <a:rPr sz="1700" b="1">
                <a:solidFill>
                  <a:srgbClr val="222222"/>
                </a:solidFill>
                <a:latin typeface="Meiryo"/>
              </a:rPr>
              <a:t>報酬: 速度 + 車線中央 + チェックポイント/ラップボーナス → lmap [-3,3]→[0,1]</a:t>
            </a:r>
          </a:p>
          <a:p>
            <a:pPr lvl="1">
              <a:spcAft>
                <a:spcPts val="600"/>
              </a:spcAft>
            </a:pPr>
            <a:r>
              <a:rPr sz="1500" b="0">
                <a:solidFill>
                  <a:srgbClr val="666666"/>
                </a:solidFill>
                <a:latin typeface="Meiryo"/>
              </a:rPr>
              <a:t>理由: 範囲が真の下限を覆わないと悪い状態が 0 に飽和し勾配消失 (導出をコメントで管理)</a:t>
            </a:r>
          </a:p>
          <a:p>
            <a:pPr>
              <a:spcAft>
                <a:spcPts val="600"/>
              </a:spcAft>
            </a:pPr>
            <a:r>
              <a:rPr sz="1700" b="1">
                <a:solidFill>
                  <a:srgbClr val="222222"/>
                </a:solidFill>
                <a:latin typeface="Meiryo"/>
              </a:rPr>
              <a:t>壁脱出ゾーン (1 m): バック免除 + 距離増加に報酬</a:t>
            </a:r>
          </a:p>
          <a:p>
            <a:pPr lvl="1">
              <a:spcAft>
                <a:spcPts val="600"/>
              </a:spcAft>
            </a:pPr>
            <a:r>
              <a:rPr sz="1500" b="0">
                <a:solidFill>
                  <a:srgbClr val="666666"/>
                </a:solidFill>
                <a:latin typeface="Meiryo"/>
              </a:rPr>
              <a:t>理由: 脱出直後に罰すると「壁を這う」局所解に陥る (実測で確認)</a:t>
            </a:r>
          </a:p>
          <a:p>
            <a:pPr>
              <a:spcAft>
                <a:spcPts val="600"/>
              </a:spcAft>
            </a:pPr>
            <a:r>
              <a:rPr sz="1700" b="0">
                <a:solidFill>
                  <a:srgbClr val="222222"/>
                </a:solidFill>
                <a:latin typeface="Meiryo"/>
              </a:rPr>
              <a:t>トラック 5 種 + random (エピソード毎に再抽選) で汎化学習</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highway-env からの変更点 (2) 観測・行動・学習設定</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pPr>
            <a:r>
              <a:rPr sz="1700" b="1">
                <a:solidFill>
                  <a:srgbClr val="222222"/>
                </a:solidFill>
                <a:latin typeface="Meiryo"/>
              </a:rPr>
              <a:t>観測: OccupancyGrid (10ch, 12x12), 前方 27 m / 後方 9 m の非対称視野</a:t>
            </a:r>
          </a:p>
          <a:p>
            <a:pPr lvl="1">
              <a:spcAft>
                <a:spcPts val="600"/>
              </a:spcAft>
            </a:pPr>
            <a:r>
              <a:rPr sz="1500" b="0">
                <a:solidFill>
                  <a:srgbClr val="666666"/>
                </a:solidFill>
                <a:latin typeface="Meiryo"/>
              </a:rPr>
              <a:t>理由: 制動距離とコーナー先読み (16 m/s から 5 m/s² 制動で 25.6 m &lt; 27 m)</a:t>
            </a:r>
          </a:p>
          <a:p>
            <a:pPr>
              <a:spcAft>
                <a:spcPts val="600"/>
              </a:spcAft>
            </a:pPr>
            <a:r>
              <a:rPr sz="1700" b="0">
                <a:solidFill>
                  <a:srgbClr val="222222"/>
                </a:solidFill>
                <a:latin typeface="Meiryo"/>
              </a:rPr>
              <a:t>行動: 連続スロットル [-5,5] m/s² + ステア ±π/6, dynamical=True (タイヤスリップ)</a:t>
            </a:r>
          </a:p>
          <a:p>
            <a:pPr>
              <a:spcAft>
                <a:spcPts val="600"/>
              </a:spcAft>
            </a:pPr>
            <a:r>
              <a:rPr sz="1700" b="1">
                <a:solidFill>
                  <a:srgbClr val="222222"/>
                </a:solidFill>
                <a:latin typeface="Meiryo"/>
              </a:rPr>
              <a:t>2 フェーズ PPO: ①NPC なしでレーン追従 → ②NPC ありで追い越し (lr を下げて FT)</a:t>
            </a:r>
          </a:p>
          <a:p>
            <a:pPr>
              <a:spcAft>
                <a:spcPts val="600"/>
              </a:spcAft>
            </a:pPr>
            <a:r>
              <a:rPr sz="1700" b="0">
                <a:solidFill>
                  <a:srgbClr val="222222"/>
                </a:solidFill>
                <a:latin typeface="Meiryo"/>
              </a:rPr>
              <a:t>カスタム CNN 特徴抽出器 + 初期スロットルバイアス +0.4 (前進探索を促進)</a:t>
            </a:r>
          </a:p>
          <a:p>
            <a:pPr>
              <a:spcAft>
                <a:spcPts val="600"/>
              </a:spcAft>
            </a:pPr>
            <a:r>
              <a:rPr sz="1700" b="1">
                <a:solidFill>
                  <a:srgbClr val="222222"/>
                </a:solidFill>
                <a:latin typeface="Meiryo"/>
              </a:rPr>
              <a:t>fast-dev = 12 万ステップ・本番ハイパラ (ent 0.02, lr 2e-4) — 周回到達を実測保証</a:t>
            </a:r>
          </a:p>
          <a:p>
            <a:pPr lvl="1">
              <a:spcAft>
                <a:spcPts val="600"/>
              </a:spcAft>
            </a:pPr>
            <a:r>
              <a:rPr sz="1500" b="0">
                <a:solidFill>
                  <a:srgbClr val="666666"/>
                </a:solidFill>
                <a:latin typeface="Meiryo"/>
              </a:rPr>
              <a:t>理由: 高エントロピー設定 (旧 0.10) は方策がランダムに留まり永遠に曲がれない</a:t>
            </a:r>
          </a:p>
          <a:p>
            <a:pPr>
              <a:spcAft>
                <a:spcPts val="600"/>
              </a:spcAft>
            </a:pPr>
            <a:r>
              <a:rPr sz="1700" b="0">
                <a:solidFill>
                  <a:srgbClr val="222222"/>
                </a:solidFill>
                <a:latin typeface="Meiryo"/>
              </a:rPr>
              <a:t>EvalCallback のベストモデルを採用 (PPO は終盤に退行することがある)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セットアップとノートブックの使い方</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pPr>
            <a:r>
              <a:rPr sz="1700" b="1">
                <a:solidFill>
                  <a:srgbClr val="222222"/>
                </a:solidFill>
                <a:latin typeface="Meiryo"/>
              </a:rPr>
              <a:t>pip install "highway-env&gt;=1.8" "stable-baselines3[extra]&gt;=2.0" gymnasium torch tensorboard moviepy onnx onnxruntime</a:t>
            </a:r>
          </a:p>
          <a:p>
            <a:pPr lvl="1">
              <a:spcAft>
                <a:spcPts val="600"/>
              </a:spcAft>
            </a:pPr>
            <a:r>
              <a:rPr sz="1500" b="0">
                <a:solidFill>
                  <a:srgbClr val="666666"/>
                </a:solidFill>
                <a:latin typeface="Meiryo"/>
              </a:rPr>
              <a:t>注意: リポジトリの requirements.txt は旧スタック (TF2.6/gym0.21) 用 — 使わない</a:t>
            </a:r>
          </a:p>
          <a:p>
            <a:pPr>
              <a:spcAft>
                <a:spcPts val="600"/>
              </a:spcAft>
            </a:pPr>
            <a:r>
              <a:rPr sz="1700" b="0">
                <a:solidFill>
                  <a:srgbClr val="222222"/>
                </a:solidFill>
                <a:latin typeface="Meiryo"/>
              </a:rPr>
              <a:t>task2_laning_overtaking_sb3_ppo.ipynb — fast トラック専用の学習</a:t>
            </a:r>
          </a:p>
          <a:p>
            <a:pPr>
              <a:spcAft>
                <a:spcPts val="600"/>
              </a:spcAft>
            </a:pPr>
            <a:r>
              <a:rPr sz="1700" b="0">
                <a:solidFill>
                  <a:srgbClr val="222222"/>
                </a:solidFill>
                <a:latin typeface="Meiryo"/>
              </a:rPr>
              <a:t>task3_generalization_sb3_ppo.ipynb — random トラック学習 + トラック別評価レポート + 5 連動画</a:t>
            </a:r>
          </a:p>
          <a:p>
            <a:pPr>
              <a:spcAft>
                <a:spcPts val="600"/>
              </a:spcAft>
            </a:pPr>
            <a:r>
              <a:rPr sz="1700" b="1">
                <a:solidFill>
                  <a:srgbClr val="222222"/>
                </a:solidFill>
                <a:latin typeface="Meiryo"/>
              </a:rPr>
              <a:t>FAST_DEV_RUN=True: 12〜15 万ステップの短縮学習 (周回まで到達) / False: 本番 (100万+)</a:t>
            </a:r>
          </a:p>
          <a:p>
            <a:pPr>
              <a:spcAft>
                <a:spcPts val="600"/>
              </a:spcAft>
            </a:pPr>
            <a:r>
              <a:rPr sz="1700" b="0">
                <a:solidFill>
                  <a:srgbClr val="222222"/>
                </a:solidFill>
                <a:latin typeface="Meiryo"/>
              </a:rPr>
              <a:t>Reward yardstick セル: eval/mean_reward を「周回数」として読むための換算値を表示</a:t>
            </a:r>
          </a:p>
          <a:p>
            <a:pPr>
              <a:spcAft>
                <a:spcPts val="600"/>
              </a:spcAft>
            </a:pPr>
            <a:r>
              <a:rPr sz="1700" b="0">
                <a:solidFill>
                  <a:srgbClr val="222222"/>
                </a:solidFill>
                <a:latin typeface="Meiryo"/>
              </a:rPr>
              <a:t>ベストモデルは runs/&lt;EXP_ID&gt;/models/best/phase1|phase2/best_model.zip に保存</a:t>
            </a:r>
          </a:p>
          <a:p>
            <a:pPr>
              <a:spcAft>
                <a:spcPts val="600"/>
              </a:spcAft>
            </a:pPr>
            <a:r>
              <a:rPr sz="1700" b="0">
                <a:solidFill>
                  <a:srgbClr val="222222"/>
                </a:solidFill>
                <a:latin typeface="Meiryo"/>
              </a:rPr>
              <a:t>検証: cd re_engine/verify &amp;&amp; dotnet run -- ..  → ALL SCENARIOS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エクスポートツールと C# デプロイ</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pPr>
            <a:r>
              <a:rPr sz="1700" b="1">
                <a:solidFill>
                  <a:srgbClr val="222222"/>
                </a:solidFill>
                <a:latin typeface="Meiryo"/>
              </a:rPr>
              <a:t>python export_onnx.py &lt;model.zip&gt; -m 3        # エンジン用 NHWC (推奨)</a:t>
            </a:r>
          </a:p>
          <a:p>
            <a:pPr lvl="1">
              <a:spcAft>
                <a:spcPts val="600"/>
              </a:spcAft>
            </a:pPr>
            <a:r>
              <a:rPr sz="1500" b="0">
                <a:solidFill>
                  <a:srgbClr val="666666"/>
                </a:solidFill>
                <a:latin typeface="Meiryo"/>
              </a:rPr>
              <a:t>  -m: 1=full policy / 2=actor CHW / 3=actor NHWC / 0=全部,  -o で出力名指定</a:t>
            </a:r>
          </a:p>
          <a:p>
            <a:pPr>
              <a:spcAft>
                <a:spcPts val="600"/>
              </a:spcAft>
            </a:pPr>
            <a:r>
              <a:rPr sz="1700" b="0">
                <a:solidFill>
                  <a:srgbClr val="222222"/>
                </a:solidFill>
                <a:latin typeface="Meiryo"/>
              </a:rPr>
              <a:t>python re_engine/convert_onnx_nhwc.py &lt;actor.onnx&gt;  # 既存 CHW を NHWC 化</a:t>
            </a:r>
          </a:p>
          <a:p>
            <a:pPr>
              <a:spcAft>
                <a:spcPts val="600"/>
              </a:spcAft>
            </a:pPr>
            <a:r>
              <a:rPr sz="1700" b="0">
                <a:solidFill>
                  <a:srgbClr val="222222"/>
                </a:solidFill>
                <a:latin typeface="Meiryo"/>
              </a:rPr>
              <a:t>python re_engine/export_track_json.py  # トラック変更後に JSON + 参照観測を再生成</a:t>
            </a:r>
          </a:p>
          <a:p>
            <a:pPr>
              <a:spcAft>
                <a:spcPts val="600"/>
              </a:spcAft>
            </a:pPr>
            <a:r>
              <a:rPr sz="1700" b="1">
                <a:solidFill>
                  <a:srgbClr val="222222"/>
                </a:solidFill>
                <a:latin typeface="Meiryo"/>
              </a:rPr>
              <a:t>エンジンは ppo_actor_only_nhwc.onnx (入力 [1,12,12,10]) を使用</a:t>
            </a:r>
          </a:p>
          <a:p>
            <a:pPr lvl="1">
              <a:spcAft>
                <a:spcPts val="600"/>
              </a:spcAft>
            </a:pPr>
            <a:r>
              <a:rPr sz="1500" b="0">
                <a:solidFill>
                  <a:srgbClr val="666666"/>
                </a:solidFill>
                <a:latin typeface="Meiryo"/>
              </a:rPr>
              <a:t>  理由: C# は HWC 平坦列を出力 — CHW 版に入れると出力がほぼ一定に退化</a:t>
            </a:r>
          </a:p>
          <a:p>
            <a:pPr>
              <a:spcAft>
                <a:spcPts val="600"/>
              </a:spcAft>
            </a:pPr>
            <a:r>
              <a:rPr sz="1700" b="0">
                <a:solidFill>
                  <a:srgbClr val="222222"/>
                </a:solidFill>
                <a:latin typeface="Meiryo"/>
              </a:rPr>
              <a:t>C# 支援クラス: SteeringSmoother / CorneringLimiter / StuckRecovery / CarController</a:t>
            </a:r>
          </a:p>
          <a:p>
            <a:pPr lvl="1">
              <a:spcAft>
                <a:spcPts val="600"/>
              </a:spcAft>
            </a:pPr>
            <a:r>
              <a:rPr sz="1500" b="0">
                <a:solidFill>
                  <a:srgbClr val="666666"/>
                </a:solidFill>
                <a:latin typeface="Meiryo"/>
              </a:rPr>
              <a:t>  CarController は学習時と同一の Bicycle 動力学 (Python と 1e-7 一致) で速度 Vector3 を出力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822960"/>
          </a:xfrm>
          <a:prstGeom prst="rect">
            <a:avLst/>
          </a:prstGeom>
          <a:noFill/>
        </p:spPr>
        <p:txBody>
          <a:bodyPr wrap="none">
            <a:spAutoFit/>
          </a:bodyPr>
          <a:lstStyle/>
          <a:p>
            <a:r>
              <a:rPr sz="3000" b="1">
                <a:solidFill>
                  <a:srgbClr val="1B5EA8"/>
                </a:solidFill>
                <a:latin typeface="Meiryo"/>
              </a:rPr>
              <a:t>まとめ</a:t>
            </a:r>
          </a:p>
        </p:txBody>
      </p:sp>
      <p:sp>
        <p:nvSpPr>
          <p:cNvPr id="3" name="TextBox 2"/>
          <p:cNvSpPr txBox="1"/>
          <p:nvPr/>
        </p:nvSpPr>
        <p:spPr>
          <a:xfrm>
            <a:off x="548640" y="1463040"/>
            <a:ext cx="11064240" cy="5120640"/>
          </a:xfrm>
          <a:prstGeom prst="rect">
            <a:avLst/>
          </a:prstGeom>
          <a:noFill/>
        </p:spPr>
        <p:txBody>
          <a:bodyPr wrap="square">
            <a:spAutoFit/>
          </a:bodyPr>
          <a:lstStyle/>
          <a:p>
            <a:pPr>
              <a:spcAft>
                <a:spcPts val="600"/>
              </a:spcAft>
            </a:pPr>
            <a:r>
              <a:rPr sz="2000" b="1">
                <a:solidFill>
                  <a:srgbClr val="222222"/>
                </a:solidFill>
                <a:latin typeface="Meiryo"/>
              </a:rPr>
              <a:t>報酬・壁の経済設計が学習速度を決める: 周回獲得は 3〜6 万ステップ</a:t>
            </a:r>
          </a:p>
          <a:p>
            <a:pPr>
              <a:spcAft>
                <a:spcPts val="600"/>
              </a:spcAft>
            </a:pPr>
            <a:r>
              <a:rPr sz="2000" b="1">
                <a:solidFill>
                  <a:srgbClr val="222222"/>
                </a:solidFill>
                <a:latin typeface="Meiryo"/>
              </a:rPr>
              <a:t>ランダムトラック学習で 1 方策 5 コース走破 — 自己位置非観測が汎化の鍵</a:t>
            </a:r>
          </a:p>
          <a:p>
            <a:pPr>
              <a:spcAft>
                <a:spcPts val="600"/>
              </a:spcAft>
            </a:pPr>
            <a:r>
              <a:rPr sz="2000" b="1">
                <a:solidFill>
                  <a:srgbClr val="222222"/>
                </a:solidFill>
                <a:latin typeface="Meiryo"/>
              </a:rPr>
              <a:t>C# ポートは観測ビット一致 + 物理 1e-7 一致 — 「動くはず」ではなく「同じ」</a:t>
            </a:r>
          </a:p>
          <a:p>
            <a:pPr>
              <a:spcAft>
                <a:spcPts val="600"/>
              </a:spcAft>
            </a:pPr>
            <a:r>
              <a:rPr sz="2000" b="0">
                <a:solidFill>
                  <a:srgbClr val="222222"/>
                </a:solidFill>
                <a:latin typeface="Meiryo"/>
              </a:rPr>
              <a:t>再現手順・注意点は CLAUDE.md / re_engine/README.md に集約</a:t>
            </a:r>
          </a:p>
          <a:p>
            <a:pPr>
              <a:spcAft>
                <a:spcPts val="600"/>
              </a:spcAft>
            </a:pPr>
            <a:r>
              <a:rPr sz="2000" b="0">
                <a:solidFill>
                  <a:srgbClr val="222222"/>
                </a:solidFill>
                <a:latin typeface="Meiryo"/>
              </a:rPr>
              <a:t>次のステップ: RE Engine 内での実走検証、実車ダイナミクスへの適合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